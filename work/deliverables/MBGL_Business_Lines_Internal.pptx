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CARFAX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Dealers</c:v>
                </c:pt>
                <c:pt idx="1">
                  <c:v>Large dealer groups</c:v>
                </c:pt>
                <c:pt idx="2">
                  <c:v>Lenders</c:v>
                </c:pt>
                <c:pt idx="3">
                  <c:v>OEM certified pre-owned programs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95</c:v>
                </c:pt>
                <c:pt idx="2">
                  <c:v>50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AutoCheck</c:v>
                </c:pt>
              </c:strCache>
            </c:strRef>
          </c:tx>
          <c:spPr>
            <a:solidFill>
              <a:srgbClr val="C9861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Dealers</c:v>
                </c:pt>
                <c:pt idx="1">
                  <c:v>Large dealer groups</c:v>
                </c:pt>
                <c:pt idx="2">
                  <c:v>Lenders</c:v>
                </c:pt>
                <c:pt idx="3">
                  <c:v>OEM certified pre-owned programs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>50</c:v>
                </c:pt>
                <c:pt idx="3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FFFFFF"/>
                  </a:solidFill>
                  <a:latin typeface="Source Sans Pr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>
              <a:latin typeface="Source Sans Pro Light"/>
            </a:defRPr>
          </a:pPr>
        </a:p>
      </c:txPr>
    </c:legend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 revenue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cat>
            <c:strRef>
              <c:f>Sheet1!$A$2:$A$4</c:f>
              <c:strCache>
                <c:ptCount val="3"/>
                <c:pt idx="0">
                  <c:v>CARFAX Listings</c:v>
                </c:pt>
                <c:pt idx="1">
                  <c:v>Cars.com (total)</c:v>
                </c:pt>
                <c:pt idx="2">
                  <c:v>CarGurus (US)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249</c:v>
                </c:pt>
                <c:pt idx="1">
                  <c:v>723</c:v>
                </c:pt>
                <c:pt idx="2">
                  <c:v>827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92.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Users (m)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0E7C86"/>
              </a:solidFill>
            </c:spPr>
          </c:dPt>
          <c:dPt>
            <c:idx val="1"/>
            <c:spPr>
              <a:solidFill>
                <a:srgbClr val="0E7C86"/>
              </a:solidFill>
            </c:spPr>
          </c:dPt>
          <c:dPt>
            <c:idx val="2"/>
            <c:spPr>
              <a:solidFill>
                <a:srgbClr val="0E7C86"/>
              </a:solidFill>
            </c:spPr>
          </c:dPt>
          <c:dPt>
            <c:idx val="3"/>
            <c:spPr>
              <a:solidFill>
                <a:srgbClr val="FFFFFF"/>
              </a:solidFill>
              <a:ln w="15875">
                <a:solidFill>
                  <a:srgbClr val="0E7C86"/>
                </a:solidFill>
                <a:prstDash val="dash"/>
              </a:ln>
            </c:spPr>
          </c:dPt>
          <c:cat>
            <c:strRef>
              <c:f>Sheet1!$A$2:$A$5</c:f>
              <c:strCache>
                <c:ptCount val="4"/>
                <c:pt idx="0">
                  <c:v>Dec-22</c:v>
                </c:pt>
                <c:pt idx="1">
                  <c:v>Apr-25</c:v>
                </c:pt>
                <c:pt idx="2">
                  <c:v>Dec-25</c:v>
                </c:pt>
                <c:pt idx="3">
                  <c:v>US goal (north of)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46</c:v>
                </c:pt>
                <c:pt idx="2">
                  <c:v>53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International revenue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</c:v>
                </c:pt>
                <c:pt idx="1">
                  <c:v>155</c:v>
                </c:pt>
                <c:pt idx="2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8.2399999999999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Vehicles (m)</c:v>
                </c:pt>
              </c:strCache>
            </c:strRef>
          </c:tx>
          <c:spPr>
            <a:solidFill>
              <a:srgbClr val="0E7C86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US</c:v>
                </c:pt>
                <c:pt idx="1">
                  <c:v>Canada</c:v>
                </c:pt>
                <c:pt idx="2">
                  <c:v>EMEA</c:v>
                </c:pt>
                <c:pt idx="3">
                  <c:v>APAC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292</c:v>
                </c:pt>
                <c:pt idx="1">
                  <c:v>28</c:v>
                </c:pt>
                <c:pt idx="2">
                  <c:v>506</c:v>
                </c:pt>
                <c:pt idx="3">
                  <c:v>612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2.1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7FC4CB"/>
              </a:solidFill>
            </c:spPr>
          </c:dPt>
          <c:cat>
            <c:strRef>
              <c:f>Sheet1!$A$2:$A$3</c:f>
              <c:strCache>
                <c:ptCount val="2"/>
                <c:pt idx="0">
                  <c:v>Marketing &amp; Sales 74%</c:v>
                </c:pt>
                <c:pt idx="1">
                  <c:v>Strategy &amp; Planning 26%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FFFFFF"/>
                  </a:solidFill>
                  <a:latin typeface="Source Sans Pr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800">
              <a:latin typeface="Source Sans Pro Light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TAM $bn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A6A6A6"/>
              </a:solidFill>
            </c:spPr>
          </c:dPt>
          <c:dPt>
            <c:idx val="2"/>
            <c:spPr>
              <a:solidFill>
                <a:srgbClr val="A6A6A6"/>
              </a:solidFill>
            </c:spPr>
          </c:dPt>
          <c:cat>
            <c:strRef>
              <c:f>Sheet1!$A$2:$A$4</c:f>
              <c:strCache>
                <c:ptCount val="3"/>
                <c:pt idx="0">
                  <c:v>Core market</c:v>
                </c:pt>
                <c:pt idx="1">
                  <c:v>Core + extended</c:v>
                </c:pt>
                <c:pt idx="2">
                  <c:v>Total incl. adjacent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14</c:v>
                </c:pt>
                <c:pt idx="2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 b="1">
                  <a:solidFill>
                    <a:srgbClr val="262626"/>
                  </a:solidFill>
                  <a:latin typeface="Source Sans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800">
                <a:latin typeface="Source Sans Pr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.59999999999999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595959"/>
          </a:solidFill>
          <a:latin typeface="Source Sans Pro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ADVANTAGE. Sources: Form 10/A (May-26) p.263, 340; 10-Q Q2-26 p.28; Investor Day deck s.57, 58, 64, 67; Experian FY26 results; AlphaSense expert calls #1–#6 (Jun–Sep-26); IHS Markit FY2016 10-K p.80. Revenue = 38% (deck s.57) of CARFAX $1,142m, rescaled for rounding. Full citations with page numbers and timestamped links: work/research_notes/slides/advantage.md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LISTINGS. Sources: Form 10/A p.263, 271, 299; Investor Day deck s.57, 65; GS conf. 10-Sep-26; Q2-26 call; CarGurus FY25 10-K p.5, 118, Q2-26 8-K/10-Q; Cars.com FY25 10-K; AlphaSense expert calls #2, #3, #5, #6, #9. Full citations with page numbers and timestamped links: work/research_notes/slides/listings.md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FINANCIAL / CONSUMER / OTHER. Sources: Form 10/A p.263, 271, 298, 340–341, 347–355; Investor Day deck s.57, 66; S&amp;P Global Investor Day (Dec-22), Q1-25 call; GS conf. 10-Sep-26; AlphaSense expert calls #1/#3 (same person), #6. Revenue = 26% (deck s.57) of $1,142m, rescaled. Full citations with page numbers and timestamped links: work/research_notes/slides/financial_consumer.md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CARFAX  |  INTERNATIONAL. Sources: Form 10/A p.255, 301, 355, 380; 10-Q Q2-26 p.28; IHS Markit FY2016 10-K p.60–61 (CARPROOF); Investor Day deck s.57, 75, 100; Q2-26 call; GS conf. 10-Sep-26; carVertical (company-sourced); AlphaSense expert call #1. Full citations with page numbers and timestamped links: work/research_notes/slides/international.md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 |  MARKETING &amp; SALES. Sources: Form 10/A p.264–265, 378, 381–382, 452–453; 10-Q Q2-26 p.19–20; Investor Day deck s.34, 40, 42, 43, 48; IHS Markit FY2017 10-K p.62; IHS 8-K (Polk, 2013); Q2-26 call; AlphaSense expert calls #2, #4. Revenue = 74% of B2B $608m [C]. Full citations with page numbers and timestamped links: work/research_notes/slides/marketing_sales.md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B2B  |  STRATEGY &amp; PLANNING. Sources: Form 10/A p.265–266, 297, 378–381; 10-Q Q2-26 p.20; Investor Day deck s.17, 34, 37, 40, 42, 46; Q2-26 call; GS conf. 10-Sep-26; GlobalData/just-auto (LMC deal); AlphaSense expert call #4. Revenue = 26% of B2B $608m [C]. Full citations with page numbers and timestamped links: work/research_notes/slides/strategy_planning.md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ADVANTAGE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Advantage: brand pull + unique service/crash data hold &gt;90% of dealers; AutoCheck is cheaper and now owns most marketplace placements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Dealer vehicle-history-report subscription  ·  CARFAX founded 1984 (Columbia, Missouri)  ·  owned by Polk from 1999, IHS 2013, S&amp;P Global 2022, Mobility Global 2026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~$430m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(38%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25%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group revenue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40,000+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dealer customers (all CARFAX products)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28m+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reports shown by dealers each month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36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OEM certified pre-owned programs use CARFAX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Per-rooftop monthly subscription to pull/share VHRs; CARFAX 81% subscription [D]. ~$999/month unlimited single store; tiers $250–$1,000 [X #4].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Pricing &amp; customers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6M-26 growth "primarily driven by price increases" [D 10-Q]; groups ~5% rises, small dealers ~8% [X #1]; heavy users re-tiered $2,500→$6,800/month [X #2]. Dealers &gt;90% CARFAX [X #1]; 1.5–2 products per dealer [IR].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96% awareness; 92,000+ shops, 6,300+ police agencies [D]; 95 integrations, 36 CPO programs [D-deck]; rebuild "3–5 years" for 20–25% share [X #1]. Limit: ~20% of collision data unique [X #5].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Small-dealer churn [X #1, #3]; AutoCheck on KBB/Autotrader (Jun-25), "almost every major" site per Experian [3P]; usage true-ups [X #2]; AI/cheaper data [D 10/A]. CARFAX won the 2013 antitrust case (SJ 2016, aff'd 2018).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CARFAX vs AutoCheck: share by customer group (%)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Expert views (ex-CARFAX staff, Jul-26), not audited; dealers "&gt;90%"; OEM CPO = 36 of 37 named programs [C].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Head to head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848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AutoCheck (Experian)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Price, one store, unlimited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~$999 / month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~$799, or "roughly half"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Service &amp; crash records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92,000+ shops; 6,300+ police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"nearly none" (service)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Consumer brand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96% awareness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"not everyone knows" 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US marketplaces, 2026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carfax.com + dealer sites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KBB, Autotrader, most others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“Cars continue to go up. The cost of the CARFAX report as a percent of that continues to decline.”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Fredericks, President CARFAX, Investor Day (12-May-26) [IR]</a:t>
            </a:r>
          </a:p>
        </p:txBody>
      </p:sp>
      <p:sp>
        <p:nvSpPr>
          <p:cNvPr id="23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“It is difficult to quantify because I think they could even increase price even more if they wanted to because the dealer needs the vehicle history report simply because of consumer demand.”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Expert #1, ex-CARFAX sales manager, 13-Jul-26 [X]</a:t>
            </a:r>
          </a:p>
        </p:txBody>
      </p:sp>
      <p:sp>
        <p:nvSpPr>
          <p:cNvPr id="25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“They complain and threaten to cancel but it seems that they rarely ever do.”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Expert #1, 13-Jul-26 [X]</a:t>
            </a:r>
          </a:p>
        </p:txBody>
      </p:sp>
      <p:sp>
        <p:nvSpPr>
          <p:cNvPr id="27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“AutoCheck is now the exclusive vehicle history report provider across almost every major consumer shopping site in the USA.”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Experian FY26 results, 20-May-26 [3P]</a:t>
            </a:r>
          </a:p>
        </p:txBody>
      </p:sp>
      <p:sp>
        <p:nvSpPr>
          <p:cNvPr id="29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(May-26) p.263, 340; 10-Q Q2-26 p.28; Investor Day deck s.57, 58, 64, 67; Experian FY26 results; AlphaSense expert calls #1–#6 (Jun–Sep-26); IHS Markit FY2016 10-K p.80. Revenue = 38% (deck s.57) of CARFAX $1,142m, rescaled for rounding.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0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LISTINGS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Listings: ~$249m challenger at &lt;10% share; CarGurus has 3.3x the US revenue and better leads, but CARFAX owns the history data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carfax.com used-car marketplace  ·  launched 2014  ·  dealer-paid monthly subscription  ·  "Showroom" premium listings launched Q2-26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~$249m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(22%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$3bn+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US listings market (management)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&lt;10%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CARFAX share of that market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23m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monthly unique visitors (all carfax.com)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3.3x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CarGurus US revenue vs CARFAX Listings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Dealer subscription to list cars on carfax.com/app; "Every vehicle listing includes a free CARFAX report, history-based value and verified reviews." [D 10/A]. Flat fee, no pay-per-lead [X #9]; Showroom add-on Q2-26 [IR]; US-only.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Position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"Four players", CARFAX "the newest" [IR]; ~8.3% of $3bn+ [C, upper bound]. Both claim "#1": CARFAX incl. report traffic, CarGurus excl. it [D-deck s.65; 3P]. One AutoNation store: most leads from CARFAX (78 vs 60) but lowest close rate [X #6].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Report, history filters, 96% awareness [D]; no network effect: "CarGurus has been the gold standard of SEO for a long time" [X #2].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Lead quality; first product a GM would cut [X #6]; marketplaces moved to AutoCheck [X #3]; AI search [D 10/A p.299]; group ad spend $134m→$176m FY23–25 [D]; 90-day outs [X #6].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FY25 revenue, $m: CARFAX Listings vs US rivals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CARFAX = 22% of CARFAX revenue (deck s.57) [C]; Cars.com and CarGurus from their FY25 10-Ks (include ads, finance, software).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CARFAX Listings vs CarGurus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11419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 Listings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CarGurus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Launched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2014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2006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US paying dealers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26,151 (Q2-26)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Revenue per dealer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disclosed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~$2,700 / month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Monthly unique visitors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23m (all carfax.com)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32.5m (Q4-25)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293624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Close rate, one AutoNation store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1.98%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4.54%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1">
                <a:solidFill>
                  <a:srgbClr val="262626"/>
                </a:solidFill>
                <a:latin typeface="Source Sans Pro Light"/>
              </a:rPr>
              <a:t>“In the U.S. alone, it is a space that is north of $3 billion. It is something that we are not even at 10% of that yet.”</a:t>
            </a:r>
          </a:p>
          <a:p>
            <a:pPr>
              <a:spcBef>
                <a:spcPts val="300"/>
              </a:spcBef>
            </a:pPr>
            <a:r>
              <a:rPr sz="700" b="1" i="0">
                <a:solidFill>
                  <a:srgbClr val="0E7C86"/>
                </a:solidFill>
                <a:latin typeface="Source Sans Pro"/>
              </a:rPr>
              <a:t>Eager, CEO, Goldman Sachs conf. (10-Sep-26) [IR]</a:t>
            </a:r>
          </a:p>
        </p:txBody>
      </p:sp>
      <p:sp>
        <p:nvSpPr>
          <p:cNvPr id="23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1">
                <a:solidFill>
                  <a:srgbClr val="262626"/>
                </a:solidFill>
                <a:latin typeface="Source Sans Pro Light"/>
              </a:rPr>
              <a:t>“The sales side is more immediate. There are things we can do on the CARFAX Car Listings side to really drive our revenue over the next 12 to 18 months.”</a:t>
            </a:r>
          </a:p>
          <a:p>
            <a:pPr>
              <a:spcBef>
                <a:spcPts val="300"/>
              </a:spcBef>
            </a:pPr>
            <a:r>
              <a:rPr sz="700" b="1" i="0">
                <a:solidFill>
                  <a:srgbClr val="0E7C86"/>
                </a:solidFill>
                <a:latin typeface="Source Sans Pro"/>
              </a:rPr>
              <a:t>Eager, Goldman Sachs conf. (10-Sep-26) [IR]</a:t>
            </a:r>
          </a:p>
        </p:txBody>
      </p:sp>
      <p:sp>
        <p:nvSpPr>
          <p:cNvPr id="25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1">
                <a:solidFill>
                  <a:srgbClr val="262626"/>
                </a:solidFill>
                <a:latin typeface="Source Sans Pro Light"/>
              </a:rPr>
              <a:t>“That's why a lot of them pulled the plug and moved to AutoCheck when CARFAX stood up their used car listings.”</a:t>
            </a:r>
          </a:p>
          <a:p>
            <a:pPr>
              <a:spcBef>
                <a:spcPts val="300"/>
              </a:spcBef>
            </a:pPr>
            <a:r>
              <a:rPr sz="700" b="1" i="0">
                <a:solidFill>
                  <a:srgbClr val="0E7C86"/>
                </a:solidFill>
                <a:latin typeface="Source Sans Pro"/>
              </a:rPr>
              <a:t>Expert #3, ex-CARFAX sales manager, 3-Jul-26 [X]</a:t>
            </a:r>
          </a:p>
        </p:txBody>
      </p:sp>
      <p:sp>
        <p:nvSpPr>
          <p:cNvPr id="27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1">
                <a:solidFill>
                  <a:srgbClr val="262626"/>
                </a:solidFill>
                <a:latin typeface="Source Sans Pro Light"/>
              </a:rPr>
              <a:t>“I think CarGurus has probably invested more and they probably have more automotive talent pushing their product where they understand the dealers better.”</a:t>
            </a:r>
          </a:p>
          <a:p>
            <a:pPr>
              <a:spcBef>
                <a:spcPts val="300"/>
              </a:spcBef>
            </a:pPr>
            <a:r>
              <a:rPr sz="700" b="1" i="0">
                <a:solidFill>
                  <a:srgbClr val="0E7C86"/>
                </a:solidFill>
                <a:latin typeface="Source Sans Pro"/>
              </a:rPr>
              <a:t>Expert #5, ex-CARFAX Director, 18-Jun-26 [X]</a:t>
            </a:r>
          </a:p>
        </p:txBody>
      </p:sp>
      <p:sp>
        <p:nvSpPr>
          <p:cNvPr id="29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p.263, 271, 299; Investor Day deck s.57, 65; GS conf. 10-Sep-26; Q2-26 call; CarGurus FY25 10-K p.5, 118, Q2-26 8-K/10-Q; Cars.com FY25 10-K; AlphaSense expert calls #2, #3, #5, #6, #9.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0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FINANCIAL / CONSUMER / OTHER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Financial / Consumer: insurers drive growth (odometer data, slow-to-switch buyers); lending is a 50/50 commodity; consumer reports are shrinking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Banking &amp; Insurance Group (per-VIN data), consumers buying reports, and (by elimination) CARFAX For Life  ·  reports since 1984  ·  insurers onboarded from ~2014  ·  Car Care / For Life 2019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~$294m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(26%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17 of 20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top US financial institutions integrated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5–25¢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paid per VIN by insurers (expert)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~50%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insurers buying CARFAX data, 2024 (expert)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53m+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Car Care app users (YE-25)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BIG per-VIN fields, "BIG minimums with usage tiers" [D 10/A]; consumer pay-per-report; For Life here by elimination [Inference]. NB "$53m→$150m→$1bn" (ID) = Car Care users, not revenue.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Customers &amp; pricing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Insurers $0.05–0.25/VIN, +3–5% every ~18 months; insurance &gt;50% of BIG, auto finance &lt;20% [X #3]; lenders ~50/50 with AutoCheck [X #1]; 17 of top 20 FIs [D-deck]. Underwriting tailwind $17m→$13m→$2m (FY24, FY25, Q1-26) [D].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Odometer/service data via free give-get with 92,000+ shops; 2–3 yr insurer onboarding [X #1]. Thin in lending [X #3].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Cyclical underwriting; consumer reports "shrinking a lot" [X #3]; For Life: "I would probably get rid of it." [X #6]; AI reuse of data [D]. BIG evidence = one expert (to Jan-24).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Car Care app users, millions (with management goal)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S&amp;P Global Investor Day (Dec-22), SPGI Q1-25 call, Form 10/A p.263; goal "north of 100 million" in the US (Eager, GS Sep-26).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Who buys, and on what terms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848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4581"/>
                <a:gridCol w="2874124"/>
                <a:gridCol w="1999390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Customer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 position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Insurers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~half buy (2024); expert sees &gt;90% by 2030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$0.05–0.25 per VIN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Lenders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~50/50 with AutoCheck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per VIN; "a commodity"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Consumers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mostly get it free from dealers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~$45 per report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Dealers (For Life)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&lt;half of franchise Advantage dealers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monthly per store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 think the biggest area of opportunity is still within the banking and insurance group, and it's insurance companies.”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Expert #1, ex-CARFAX BIG sales manager, 13-Jul-26 [X]</a:t>
            </a:r>
          </a:p>
        </p:txBody>
      </p:sp>
      <p:sp>
        <p:nvSpPr>
          <p:cNvPr id="23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 think that's going to almost double in the next five years, and that's solely due to bringing on more of these large insurance companies.”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Expert #3 (same person), 3-Jul-26 [X]</a:t>
            </a:r>
          </a:p>
        </p:txBody>
      </p:sp>
      <p:sp>
        <p:nvSpPr>
          <p:cNvPr id="25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“Auto finance is also much more competitive with AutoCheck. It's a little more of a commodity on the auto finance side.”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Expert #3, 3-Jul-26 [X]</a:t>
            </a:r>
          </a:p>
        </p:txBody>
      </p:sp>
      <p:sp>
        <p:nvSpPr>
          <p:cNvPr id="27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1">
                <a:solidFill>
                  <a:srgbClr val="262626"/>
                </a:solidFill>
                <a:latin typeface="Source Sans Pro Light"/>
              </a:rPr>
              <a:t>“In the U.S., we saw comparatively stronger year-over-year performance in our service loyalty and consumer products.”</a:t>
            </a:r>
          </a:p>
          <a:p>
            <a:pPr>
              <a:spcBef>
                <a:spcPts val="300"/>
              </a:spcBef>
            </a:pPr>
            <a:r>
              <a:rPr sz="750" b="1" i="0">
                <a:solidFill>
                  <a:srgbClr val="0E7C86"/>
                </a:solidFill>
                <a:latin typeface="Source Sans Pro"/>
              </a:rPr>
              <a:t>Calderone, CFO, Q2-26 call (7-Aug-26) [IR]</a:t>
            </a:r>
          </a:p>
        </p:txBody>
      </p:sp>
      <p:sp>
        <p:nvSpPr>
          <p:cNvPr id="29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p.263, 271, 298, 340–341, 347–355; Investor Day deck s.57, 66; S&amp;P Global Investor Day (Dec-22), Q1-25 call; GS conf. 10-Sep-26; AlphaSense expert calls #1/#3 (same person), #6. Revenue = 26% (deck s.57) of $1,142m, rescaled.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0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CARFAX  |  INTERNATIONAL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International: $168m, Canada-led (bought CARPROOF 2015); Europe is a data-access land grab with no scaled incumbent; mgmt sees it as mid-to-long term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Canada: CARPROOF (founded c.2000) bought Dec-2015 for $459m, renamed CARFAX Canada 2018  ·  CARFAX Europe since 2007  ·  Italy 2025–26, Germany Jul-2026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$168m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(15% of CARFAX)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+12%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H1-26 growth (US: +7%)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~28m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vehicles in Canada (US ~292m)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~1.1bn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vehicles in EMEA + APAC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1–2 pts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group growth targeted from international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US model abroad; Canada more transactional [IR Q2-26] and "not the full product suite" [IR GS]; Europe "consumer-first" [D 10/A]. No Canada/Europe split disclosed.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Position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Canada "market leader" (mgmt claim) [IR]. Europe: "no big-scaled incumbents" [IR]; carVertical €75.8m 2025, +40% [3P]; autoDNA in Poland; free state data (CEPIK, MOT) [3P]. No UK presence.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Canada: CARPROOF channels (dealer associations, Manheim/ADESA) [3P]. Europe gated by data access; shared US ingestion platform [IR].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Canada auto weakness; Europe transactional miss Q2-26 [IR]; restricted EU data ("a sideshow" [X #1]); local rivals [D]; CAD FX. Growth slowed to +9% in Q2 from +16% in Q1 [D].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Revenue, $m (left) and vehicles in operation by region, m (right)</a:t>
            </a:r>
          </a:p>
        </p:txBody>
      </p:sp>
      <p:graphicFrame>
        <p:nvGraphicFramePr>
          <p:cNvPr id="17" name="Chart 1"/>
          <p:cNvGraphicFramePr>
            <a:graphicFrameLocks noGrp="1"/>
          </p:cNvGraphicFramePr>
          <p:nvPr/>
        </p:nvGraphicFramePr>
        <p:xfrm>
          <a:off x="5486400" y="2441448"/>
          <a:ext cx="3032608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2"/>
          <p:cNvGraphicFramePr>
            <a:graphicFrameLocks noGrp="1"/>
          </p:cNvGraphicFramePr>
          <p:nvPr/>
        </p:nvGraphicFramePr>
        <p:xfrm>
          <a:off x="8701888" y="2441448"/>
          <a:ext cx="3032608" cy="9692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Form 10/A p.355; Investor Day deck s.75 (Mobility Global International Market Reporting data, FY25).</a:t>
            </a:r>
          </a:p>
        </p:txBody>
      </p:sp>
      <p:sp>
        <p:nvSpPr>
          <p:cNvPr id="20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Who CARFAX competes with abroad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5486400" y="3904488"/>
          <a:ext cx="6248095" cy="848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Market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CARFAX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Main rivals / context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Canada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Market leader (management)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VinAudit (registration-data reseller)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Germany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New entrant, Jul-26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carVertical, autoDNA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Italy, Spain, Poland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Local services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carVertical (€76m revenue 2025); autoDNA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UK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Not present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HPI (Solera); free government MOT data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“We are currently the market leader in Canada. So I think of Canada and Europe representing a great opportunity for us.”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Eager, CEO, Goldman Sachs conf. (10-Sep-26) [IR]</a:t>
            </a:r>
          </a:p>
        </p:txBody>
      </p:sp>
      <p:sp>
        <p:nvSpPr>
          <p:cNvPr id="24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“In Europe, we saw strong double-digit growth, but our transactional revenue in the quarter lagged expectations.”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Calderone, CFO, Q2-26 call (7-Aug-26) [IR]</a:t>
            </a:r>
          </a:p>
        </p:txBody>
      </p:sp>
      <p:sp>
        <p:nvSpPr>
          <p:cNvPr id="26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“There are no big-scaled incumbents there, but there are different players in different parts of the ecosystem as we go around that life cycle.”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Fredericks, Investor Day (12-May-26) [IR]</a:t>
            </a:r>
          </a:p>
        </p:txBody>
      </p:sp>
      <p:sp>
        <p:nvSpPr>
          <p:cNvPr id="28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“I think it's always going to be a sideshow, with the idea it could grow. It's my understanding that the data over there, it's a lot more restricted than it is in the States.”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Expert #1, ex-CARFAX sales manager, 13-Jul-26 [X]</a:t>
            </a:r>
          </a:p>
        </p:txBody>
      </p:sp>
      <p:sp>
        <p:nvSpPr>
          <p:cNvPr id="30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p.255, 301, 355, 380; 10-Q Q2-26 p.28; IHS Markit FY2016 10-K p.60–61 (CARPROOF); Investor Day deck s.57, 75, 100; Q2-26 call; GS conf. 10-Sep-26; carVertical (company-sourced); AlphaSense expert call #1.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1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B2B  |  MARKETING &amp; SALES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Marketing &amp; Sales: Polk registration data is the near-unique asset; automotiveMastermind grows double digits; recall is the laggard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Polk (in business since 1870, automotive since the 1920s)  ·  IHS bought Polk 2013 (~$1.4bn)  ·  automotiveMastermind 2017 (78% for ~$433m)  ·  Market Scan 2023 ($223m)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~$450m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(74% of B2B)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40 of 40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top global carmakers served (B2B)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3,200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dealers on automotiveMastermind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~10,500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dealers using Market Scan pricing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&gt;90%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US volume uses its registration data (management)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aM (incl. EEQ), Polk Auto Marketing Solutions, Market Scan, Data Studio, VIN Solutions, Recall [D 10/A]. Mostly subscription; recall volume-based [D 10-Q]; recall "a very high margin business" [IR SPGI].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Data &amp; reach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13B+ transaction records, 832M VINs, 126M households, 215M scores/day [D-deck]; 11K US dealers use B2B tools; 6,000 OEM users daily (sales + planning) [IR].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"Registration data itself, I know of no other company than Polk." [X #4]; data lags ~90 days [X #2]. Rivals: J.D. Power PIN [X #4]; Cox/Fullpath vs aM [X #2].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OEM budgets, longer ownership, recall lumpiness [IR]; aM may stall near 7–8k dealers [X #2]; cheaper data/AI [X #2]. B2B Adj. EBITDA fell $203m→$197m in FY25 [D].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B2B FY25 revenue by business line ($608m)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3436452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side facts"/>
          <p:cNvSpPr txBox="1"/>
          <p:nvPr/>
        </p:nvSpPr>
        <p:spPr>
          <a:xfrm>
            <a:off x="9110295" y="2578608"/>
            <a:ext cx="26242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1F3864"/>
                </a:solidFill>
                <a:latin typeface="Source Sans Pro"/>
              </a:rPr>
              <a:t>$608m  </a:t>
            </a:r>
            <a:r>
              <a:rPr sz="850" b="0" i="0">
                <a:solidFill>
                  <a:srgbClr val="595959"/>
                </a:solidFill>
                <a:latin typeface="Source Sans Pro Light"/>
              </a:rPr>
              <a:t>B2B revenue FY25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F3864"/>
                </a:solidFill>
                <a:latin typeface="Source Sans Pro"/>
              </a:rPr>
              <a:t>82% / 18%  </a:t>
            </a:r>
            <a:r>
              <a:rPr sz="850" b="0" i="0">
                <a:solidFill>
                  <a:srgbClr val="595959"/>
                </a:solidFill>
                <a:latin typeface="Source Sans Pro Light"/>
              </a:rPr>
              <a:t>subscription / transactional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F3864"/>
                </a:solidFill>
                <a:latin typeface="Source Sans Pro"/>
              </a:rPr>
              <a:t>79% / 21%  </a:t>
            </a:r>
            <a:r>
              <a:rPr sz="850" b="0" i="0">
                <a:solidFill>
                  <a:srgbClr val="595959"/>
                </a:solidFill>
                <a:latin typeface="Source Sans Pro Light"/>
              </a:rPr>
              <a:t>US / international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1F3864"/>
                </a:solidFill>
                <a:latin typeface="Source Sans Pro"/>
              </a:rPr>
              <a:t>~10%  </a:t>
            </a:r>
            <a:r>
              <a:rPr sz="850" b="0" i="0">
                <a:solidFill>
                  <a:srgbClr val="595959"/>
                </a:solidFill>
                <a:latin typeface="Source Sans Pro Light"/>
              </a:rPr>
              <a:t>share of $6bn core market</a:t>
            </a:r>
          </a:p>
        </p:txBody>
      </p:sp>
      <p:sp>
        <p:nvSpPr>
          <p:cNvPr id="19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Investor Day deck s.34. B2B overall: 82% subscription / 18% transactional; 79% US / 21% international.</a:t>
            </a:r>
          </a:p>
        </p:txBody>
      </p:sp>
      <p:sp>
        <p:nvSpPr>
          <p:cNvPr id="20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What sits inside</a:t>
            </a:r>
          </a:p>
        </p:txBody>
      </p:sp>
      <p:graphicFrame>
        <p:nvGraphicFramePr>
          <p:cNvPr id="21" name="Table"/>
          <p:cNvGraphicFramePr>
            <a:graphicFrameLocks noGrp="1"/>
          </p:cNvGraphicFramePr>
          <p:nvPr/>
        </p:nvGraphicFramePr>
        <p:xfrm>
          <a:off x="5486400" y="3904488"/>
          <a:ext cx="6248095" cy="848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Product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What it does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Scale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automotiveMastermind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Predicts who buys next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3,200 dealers; double-digit growth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Polk market reporting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Registration-based market share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"&gt;90% of US volume"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Market Scan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Price &amp; payment engine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~10,500 dealers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Recall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Finds owners for safety recalls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"All major OEMs"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“We are providing those core services to over 90% of the volume in the U.S. market because we are the premium provider in that space”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LaFeir, President B2B, Investor Day (12-May-26) [IR] (re: Polk registration data)</a:t>
            </a:r>
          </a:p>
        </p:txBody>
      </p:sp>
      <p:sp>
        <p:nvSpPr>
          <p:cNvPr id="24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“Mastermind is the, I don't know if gold standard is the right word, but they're the benchmark in the industry.”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Expert #2, ex-Cox AVP Product, 9-Jul-26 [X]</a:t>
            </a:r>
          </a:p>
        </p:txBody>
      </p:sp>
      <p:sp>
        <p:nvSpPr>
          <p:cNvPr id="26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“Every provider seems to run to about 7,000 or 8,000 dealers in the auto industry and then start to stall out, because that's half the franchise base.”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Expert #2, 9-Jul-26 [X]</a:t>
            </a:r>
          </a:p>
        </p:txBody>
      </p:sp>
      <p:sp>
        <p:nvSpPr>
          <p:cNvPr id="28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“We have a number of OEMs that are on that Data Studio platform, but we'd like to see many more.”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Eager, CEO, Goldman Sachs conf. (10-Sep-26) [IR]</a:t>
            </a:r>
          </a:p>
        </p:txBody>
      </p:sp>
      <p:sp>
        <p:nvSpPr>
          <p:cNvPr id="30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p.264–265, 378, 381–382, 452–453; 10-Q Q2-26 p.19–20; Investor Day deck s.34, 40, 42, 43, 48; IHS Markit FY2017 10-K p.62; IHS 8-K (Polk, 2013); Q2-26 call; AlphaSense expert calls #2, #4. Revenue = 74% of B2B $608m [C].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1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457200" y="274320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B2B  |  STRATEGY &amp; PLANNING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475488"/>
            <a:ext cx="11277295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1F3864"/>
                </a:solidFill>
                <a:latin typeface="Source Sans Pro"/>
              </a:rPr>
              <a:t>Strategy &amp; Planning: benchmark forecasts with deep detail, but thin independent evidence, a cheaper rival (GlobalData) and project-driven slippage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216152"/>
            <a:ext cx="112772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595959"/>
                </a:solidFill>
                <a:latin typeface="Source Sans Pro Light"/>
              </a:rPr>
              <a:t>Global forecasting standard launched ~1986 ("40 years ago")  ·  Polk / IHS heritage, IHS bought Polk 2013  ·  FAST and PIQ tools launched 2025–26</a:t>
            </a:r>
          </a:p>
        </p:txBody>
      </p:sp>
      <p:sp>
        <p:nvSpPr>
          <p:cNvPr id="5" name="Stat 1 panel"/>
          <p:cNvSpPr/>
          <p:nvPr/>
        </p:nvSpPr>
        <p:spPr>
          <a:xfrm>
            <a:off x="457200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t 1"/>
          <p:cNvSpPr txBox="1"/>
          <p:nvPr/>
        </p:nvSpPr>
        <p:spPr>
          <a:xfrm>
            <a:off x="566928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~$158m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FY25 revenue (26% of B2B)</a:t>
            </a:r>
          </a:p>
        </p:txBody>
      </p:sp>
      <p:sp>
        <p:nvSpPr>
          <p:cNvPr id="7" name="Stat 2 panel"/>
          <p:cNvSpPr/>
          <p:nvPr/>
        </p:nvSpPr>
        <p:spPr>
          <a:xfrm>
            <a:off x="2740091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t 2"/>
          <p:cNvSpPr txBox="1"/>
          <p:nvPr/>
        </p:nvSpPr>
        <p:spPr>
          <a:xfrm>
            <a:off x="2849819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100%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top-40 carmakers</a:t>
            </a:r>
          </a:p>
        </p:txBody>
      </p:sp>
      <p:sp>
        <p:nvSpPr>
          <p:cNvPr id="9" name="Stat 3 panel"/>
          <p:cNvSpPr/>
          <p:nvPr/>
        </p:nvSpPr>
        <p:spPr>
          <a:xfrm>
            <a:off x="5022982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tat 3"/>
          <p:cNvSpPr txBox="1"/>
          <p:nvPr/>
        </p:nvSpPr>
        <p:spPr>
          <a:xfrm>
            <a:off x="5132710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94%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of top-100 suppliers</a:t>
            </a:r>
          </a:p>
        </p:txBody>
      </p:sp>
      <p:sp>
        <p:nvSpPr>
          <p:cNvPr id="11" name="Stat 4 panel"/>
          <p:cNvSpPr/>
          <p:nvPr/>
        </p:nvSpPr>
        <p:spPr>
          <a:xfrm>
            <a:off x="7305873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t 4"/>
          <p:cNvSpPr txBox="1"/>
          <p:nvPr/>
        </p:nvSpPr>
        <p:spPr>
          <a:xfrm>
            <a:off x="7415601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85,000+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vehicle variants forecast</a:t>
            </a:r>
          </a:p>
        </p:txBody>
      </p:sp>
      <p:sp>
        <p:nvSpPr>
          <p:cNvPr id="13" name="Stat 5 panel"/>
          <p:cNvSpPr/>
          <p:nvPr/>
        </p:nvSpPr>
        <p:spPr>
          <a:xfrm>
            <a:off x="9588764" y="1517904"/>
            <a:ext cx="2145731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tat 5"/>
          <p:cNvSpPr txBox="1"/>
          <p:nvPr/>
        </p:nvSpPr>
        <p:spPr>
          <a:xfrm>
            <a:off x="9698492" y="1572768"/>
            <a:ext cx="19262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1F3864"/>
                </a:solidFill>
                <a:latin typeface="Source Sans Pro"/>
              </a:rPr>
              <a:t>23K</a:t>
            </a:r>
          </a:p>
          <a:p>
            <a:r>
              <a:rPr sz="800" b="0" i="0">
                <a:solidFill>
                  <a:srgbClr val="595959"/>
                </a:solidFill>
                <a:latin typeface="Source Sans Pro Light"/>
              </a:rPr>
              <a:t>monthly users of planning platforms</a:t>
            </a:r>
          </a:p>
        </p:txBody>
      </p:sp>
      <p:sp>
        <p:nvSpPr>
          <p:cNvPr id="15" name="Business description"/>
          <p:cNvSpPr txBox="1"/>
          <p:nvPr/>
        </p:nvSpPr>
        <p:spPr>
          <a:xfrm>
            <a:off x="457200" y="2194560"/>
            <a:ext cx="4754880" cy="409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0E7C86"/>
                </a:solidFill>
                <a:latin typeface="Source Sans Pro"/>
              </a:rPr>
              <a:t>What it does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Vehicle &amp; Supply Chain Forecasting, Global Reporting (100 countries), FAST, PIQ, ~25% of Digital Automotive [D 10/A]. Subscriptions + one-off deliveries/consulting [D 10-Q]; no pricing disclosed.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Data &amp; reach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99% of global production, ~990 plants, 4,400+ suppliers, 195 analysts [D]; 100% of top-10 investment banks [D]; "we haven't hit the 50% mark" with the top 40 [IR].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Moat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Detail + embedding in OEM planning [D]. Thin evidence: one customer mention [X #4]; analyst-named rival GlobalData (bought LMC Dec-21) [3P]; D14 rates the moat "low".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0E7C86"/>
                </a:solidFill>
                <a:latin typeface="Source Sans Pro"/>
              </a:rPr>
              <a:t>Risks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262626"/>
                </a:solidFill>
                <a:latin typeface="Source Sans Pro Light"/>
              </a:rPr>
              <a:t>Project delays, Canada weakness [IR]; cheaper rival; AI-cheapened forecasts [D 10/A]; old SPGI "Manufacturing" line grew ~0–3% in 2024–25 (not like-for-like) [IR].</a:t>
            </a:r>
          </a:p>
        </p:txBody>
      </p:sp>
      <p:sp>
        <p:nvSpPr>
          <p:cNvPr id="16" name="Chart title"/>
          <p:cNvSpPr txBox="1"/>
          <p:nvPr/>
        </p:nvSpPr>
        <p:spPr>
          <a:xfrm>
            <a:off x="5486400" y="2194560"/>
            <a:ext cx="6248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B2B addressable market, $bn (FY25, management / third-party consultant)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486400" y="2441448"/>
          <a:ext cx="6248095" cy="9692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Chart note"/>
          <p:cNvSpPr txBox="1"/>
          <p:nvPr/>
        </p:nvSpPr>
        <p:spPr>
          <a:xfrm>
            <a:off x="5486400" y="3429000"/>
            <a:ext cx="62480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0" i="1">
                <a:solidFill>
                  <a:srgbClr val="595959"/>
                </a:solidFill>
                <a:latin typeface="Source Sans Pro Light"/>
              </a:rPr>
              <a:t>Investor Day deck s.46 (independent consultant, midpoint of ranges); B2B share of core ~10%. TAM is B2B-wide, not planning-only.</a:t>
            </a:r>
          </a:p>
        </p:txBody>
      </p:sp>
      <p:sp>
        <p:nvSpPr>
          <p:cNvPr id="19" name="Table title"/>
          <p:cNvSpPr txBox="1"/>
          <p:nvPr/>
        </p:nvSpPr>
        <p:spPr>
          <a:xfrm>
            <a:off x="5486400" y="3666744"/>
            <a:ext cx="6248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>
                <a:solidFill>
                  <a:srgbClr val="1F3864"/>
                </a:solidFill>
                <a:latin typeface="Source Sans Pro"/>
              </a:rPr>
              <a:t>Coverage of the forecasts</a:t>
            </a:r>
          </a:p>
        </p:txBody>
      </p:sp>
      <p:graphicFrame>
        <p:nvGraphicFramePr>
          <p:cNvPr id="20" name="Table"/>
          <p:cNvGraphicFramePr>
            <a:graphicFrameLocks noGrp="1"/>
          </p:cNvGraphicFramePr>
          <p:nvPr/>
        </p:nvGraphicFramePr>
        <p:xfrm>
          <a:off x="5486400" y="3904488"/>
          <a:ext cx="6248095" cy="8483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36910"/>
                <a:gridCol w="1999390"/>
                <a:gridCol w="2311795"/>
              </a:tblGrid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Measure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>Coverage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FFFFFF"/>
                          </a:solidFill>
                          <a:latin typeface="Source Sans Pro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Global vehicle production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99%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145+ sales markets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Vehicle production plants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~990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in 50+ countries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Supplier plants / suppliers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2,900+ / 4,400+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680+ technologies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169672">
                <a:tc>
                  <a:txBody>
                    <a:bodyPr wrap="square"/>
                    <a:lstStyle/>
                    <a:p>
                      <a:r>
                        <a:rPr sz="800" b="1" i="0">
                          <a:solidFill>
                            <a:srgbClr val="1F3864"/>
                          </a:solidFill>
                          <a:latin typeface="Source Sans Pro"/>
                        </a:rPr>
                        <a:t>Analyst team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195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 i="0">
                          <a:solidFill>
                            <a:srgbClr val="262626"/>
                          </a:solidFill>
                          <a:latin typeface="Source Sans Pro Light"/>
                        </a:rPr>
                        <a:t>forecasts 5–15+ years out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Quote card 1"/>
          <p:cNvSpPr/>
          <p:nvPr/>
        </p:nvSpPr>
        <p:spPr>
          <a:xfrm>
            <a:off x="457200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Quote 1"/>
          <p:cNvSpPr txBox="1"/>
          <p:nvPr/>
        </p:nvSpPr>
        <p:spPr>
          <a:xfrm>
            <a:off x="585216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“If we do typically see that, the competitors, it's a low-cost alternative to what we're providing and a very different product.”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LaFeir, Investor Day (12-May-26) [IR] (analyst had named GlobalData LMC)</a:t>
            </a:r>
          </a:p>
        </p:txBody>
      </p:sp>
      <p:sp>
        <p:nvSpPr>
          <p:cNvPr id="23" name="Quote card 2"/>
          <p:cNvSpPr/>
          <p:nvPr/>
        </p:nvSpPr>
        <p:spPr>
          <a:xfrm>
            <a:off x="3310814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Quote 2"/>
          <p:cNvSpPr txBox="1"/>
          <p:nvPr/>
        </p:nvSpPr>
        <p:spPr>
          <a:xfrm>
            <a:off x="3438830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“Our B2B business also saw some modest delays in Planning Solutions projects due to the uncertain macroeconomic environment”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Calderone, CFO, Q2-26 call (7-Aug-26) [IR]</a:t>
            </a:r>
          </a:p>
        </p:txBody>
      </p:sp>
      <p:sp>
        <p:nvSpPr>
          <p:cNvPr id="25" name="Quote card 3"/>
          <p:cNvSpPr/>
          <p:nvPr/>
        </p:nvSpPr>
        <p:spPr>
          <a:xfrm>
            <a:off x="6164428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Quote 3"/>
          <p:cNvSpPr txBox="1"/>
          <p:nvPr/>
        </p:nvSpPr>
        <p:spPr>
          <a:xfrm>
            <a:off x="6292444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“Good to see these products, all four of them are in their early stages.”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Eager, CEO, Goldman Sachs conf. (10-Sep-26) [IR]</a:t>
            </a:r>
          </a:p>
        </p:txBody>
      </p:sp>
      <p:sp>
        <p:nvSpPr>
          <p:cNvPr id="27" name="Quote card 4"/>
          <p:cNvSpPr/>
          <p:nvPr/>
        </p:nvSpPr>
        <p:spPr>
          <a:xfrm>
            <a:off x="9018041" y="5440680"/>
            <a:ext cx="2716454" cy="868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Quote 4"/>
          <p:cNvSpPr txBox="1"/>
          <p:nvPr/>
        </p:nvSpPr>
        <p:spPr>
          <a:xfrm>
            <a:off x="9146057" y="5513832"/>
            <a:ext cx="246042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1">
                <a:solidFill>
                  <a:srgbClr val="262626"/>
                </a:solidFill>
                <a:latin typeface="Source Sans Pro Light"/>
              </a:rPr>
              <a:t>“We're also making bets five, 10, 15 years down the road, big bets that are often irreversible and can cost a lot if they get it wrong.”</a:t>
            </a:r>
          </a:p>
          <a:p>
            <a:pPr>
              <a:spcBef>
                <a:spcPts val="300"/>
              </a:spcBef>
            </a:pPr>
            <a:r>
              <a:rPr sz="650" b="1" i="0">
                <a:solidFill>
                  <a:srgbClr val="0E7C86"/>
                </a:solidFill>
                <a:latin typeface="Source Sans Pro"/>
              </a:rPr>
              <a:t>LaFeir, Investor Day (12-May-26) [IR]</a:t>
            </a:r>
          </a:p>
        </p:txBody>
      </p:sp>
      <p:sp>
        <p:nvSpPr>
          <p:cNvPr id="29" name="Sources"/>
          <p:cNvSpPr txBox="1"/>
          <p:nvPr/>
        </p:nvSpPr>
        <p:spPr>
          <a:xfrm>
            <a:off x="457200" y="6382512"/>
            <a:ext cx="107286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50" b="1" i="0">
                <a:solidFill>
                  <a:srgbClr val="595959"/>
                </a:solidFill>
                <a:latin typeface="Source Sans Pro"/>
              </a:rPr>
              <a:t>Sources: </a:t>
            </a:r>
            <a:r>
              <a:rPr sz="750" b="0" i="0">
                <a:solidFill>
                  <a:srgbClr val="595959"/>
                </a:solidFill>
                <a:latin typeface="Source Sans Pro Light"/>
              </a:rPr>
              <a:t>Form 10/A p.265–266, 297, 378–381; 10-Q Q2-26 p.20; Investor Day deck s.17, 34, 37, 40, 42, 46; Q2-26 call; GS conf. 10-Sep-26; GlobalData/just-auto (LMC deal); AlphaSense expert call #4. Revenue = 26% of B2B $608m [C].  Tags: [D] filing, [D-deck] Investor Day deck (unaudited), [IR] management, [X] AlphaSense expert call (unaudited), [3P] third party, [C] arithmetic on disclosed data.</a:t>
            </a:r>
          </a:p>
        </p:txBody>
      </p:sp>
      <p:sp>
        <p:nvSpPr>
          <p:cNvPr id="30" name="Page"/>
          <p:cNvSpPr txBox="1"/>
          <p:nvPr/>
        </p:nvSpPr>
        <p:spPr>
          <a:xfrm>
            <a:off x="11277295" y="638251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595959"/>
                </a:solidFill>
                <a:latin typeface="Source Sans Pro Light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Mobility Global: business lines (internal research)</dc:title>
  <dc:subject/>
  <dc:creator>MBGL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