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0E7C86"/>
              </a:solidFill>
            </c:spPr>
          </c:dPt>
          <c:dPt>
            <c:idx val="2"/>
            <c:spPr>
              <a:solidFill>
                <a:srgbClr val="7FC4CB"/>
              </a:solidFill>
            </c:spPr>
          </c:dPt>
          <c:cat>
            <c:strRef>
              <c:f>Sheet1!$A$2:$A$4</c:f>
              <c:strCache>
                <c:ptCount val="3"/>
                <c:pt idx="0">
                  <c:v>Dealer (B2B &amp; CARFAX)</c:v>
                </c:pt>
                <c:pt idx="1">
                  <c:v>OEM &amp; supplier</c:v>
                </c:pt>
                <c:pt idx="2">
                  <c:v>Financial / consumer / 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62.0</c:v>
                </c:pt>
                <c:pt idx="1">
                  <c:v>20.0</c:v>
                </c:pt>
                <c:pt idx="2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CARFAX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928.0</c:v>
                </c:pt>
                <c:pt idx="1">
                  <c:v>1039.0</c:v>
                </c:pt>
                <c:pt idx="2">
                  <c:v>1142.0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B2B</c:v>
                </c:pt>
              </c:strCache>
            </c:strRef>
          </c:tx>
          <c:spPr>
            <a:solidFill>
              <a:srgbClr val="7FC4CB"/>
            </a:solidFill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557.0</c:v>
                </c:pt>
                <c:pt idx="1">
                  <c:v>574.0</c:v>
                </c:pt>
                <c:pt idx="2">
                  <c:v>608.0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CARFAX</c:v>
                </c:pt>
              </c:strCache>
            </c:strRef>
          </c:tx>
          <c:spPr>
            <a:solidFill>
              <a:srgbClr val="0E7C86"/>
            </a:solidFill>
            <a:ln>
              <a:noFill/>
            </a:ln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Advantage (VHR)</c:v>
                </c:pt>
                <c:pt idx="1">
                  <c:v>Financial / consumer / other</c:v>
                </c:pt>
                <c:pt idx="2">
                  <c:v>Listings</c:v>
                </c:pt>
                <c:pt idx="3">
                  <c:v>International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38.0</c:v>
                </c:pt>
                <c:pt idx="1">
                  <c:v>26.0</c:v>
                </c:pt>
                <c:pt idx="2">
                  <c:v>22.0</c:v>
                </c:pt>
                <c:pt idx="3">
                  <c:v>15.0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6M-25</c:v>
                </c:pt>
                <c:pt idx="4">
                  <c:v>6M-26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1485.0</c:v>
                </c:pt>
                <c:pt idx="1">
                  <c:v>1613.0</c:v>
                </c:pt>
                <c:pt idx="2">
                  <c:v>1750.0</c:v>
                </c:pt>
                <c:pt idx="3">
                  <c:v>859.0</c:v>
                </c:pt>
                <c:pt idx="4">
                  <c:v>923.0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Adj. EBITDA</c:v>
                </c:pt>
              </c:strCache>
            </c:strRef>
          </c:tx>
          <c:spPr>
            <a:solidFill>
              <a:srgbClr val="0E7C86"/>
            </a:solidFill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6M-25</c:v>
                </c:pt>
                <c:pt idx="4">
                  <c:v>6M-26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598.0</c:v>
                </c:pt>
                <c:pt idx="1">
                  <c:v>658.0</c:v>
                </c:pt>
                <c:pt idx="2">
                  <c:v>711.0</c:v>
                </c:pt>
                <c:pt idx="3">
                  <c:v>357.0</c:v>
                </c:pt>
                <c:pt idx="4">
                  <c:v>386.0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Adj. EBITDA margin</c:v>
                </c:pt>
              </c:strCache>
            </c:strRef>
          </c:tx>
          <c:spPr>
            <a:ln w="28575">
              <a:solidFill>
                <a:srgbClr val="0E7C86"/>
              </a:solidFill>
            </a:ln>
          </c:spPr>
          <c:marker>
            <c:symbol val="circle"/>
            <c:size val="7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900" b="1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6M-25</c:v>
                </c:pt>
                <c:pt idx="4">
                  <c:v>6M-26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40.3</c:v>
                </c:pt>
                <c:pt idx="1">
                  <c:v>40.8</c:v>
                </c:pt>
                <c:pt idx="2">
                  <c:v>40.6</c:v>
                </c:pt>
                <c:pt idx="3">
                  <c:v>41.6</c:v>
                </c:pt>
                <c:pt idx="4">
                  <c:v>41.8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4.0"/>
          <c:min val="36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8C8C8C"/>
            </a:solidFill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8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662.6</c:v>
                </c:pt>
                <c:pt idx="1">
                  <c:v>758.4</c:v>
                </c:pt>
                <c:pt idx="2">
                  <c:v>892.8</c:v>
                </c:pt>
                <c:pt idx="3">
                  <c:v>991.6</c:v>
                </c:pt>
                <c:pt idx="4">
                  <c:v>1160.2</c:v>
                </c:pt>
                <c:pt idx="5">
                  <c:v>1246.1</c:v>
                </c:pt>
                <c:pt idx="6">
                  <c:v>1151.6</c:v>
                </c:pt>
                <c:pt idx="7">
                  <c:v>1354.4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Adj. EBITDA</c:v>
                </c:pt>
              </c:strCache>
            </c:strRef>
          </c:tx>
          <c:spPr>
            <a:solidFill>
              <a:srgbClr val="4F6D8F"/>
            </a:solidFill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8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234.3</c:v>
                </c:pt>
                <c:pt idx="1">
                  <c:v>282.7</c:v>
                </c:pt>
                <c:pt idx="2">
                  <c:v>353.3</c:v>
                </c:pt>
                <c:pt idx="3">
                  <c:v>408.6</c:v>
                </c:pt>
                <c:pt idx="4">
                  <c:v>479.3</c:v>
                </c:pt>
                <c:pt idx="5">
                  <c:v>520.9</c:v>
                </c:pt>
                <c:pt idx="6">
                  <c:v>514.7</c:v>
                </c:pt>
                <c:pt idx="7">
                  <c:v>645.0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ln w="28575">
              <a:solidFill>
                <a:srgbClr val="4F6D8F"/>
              </a:solidFill>
            </a:ln>
          </c:spPr>
          <c:marker>
            <c:symbol val="circle"/>
            <c:size val="7"/>
            <c:spPr>
              <a:solidFill>
                <a:srgbClr val="4F6D8F"/>
              </a:solidFill>
              <a:ln>
                <a:solidFill>
                  <a:srgbClr val="4F6D8F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900" b="1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</c:v>
                </c:pt>
                <c:pt idx="1">
                  <c:v>37.3</c:v>
                </c:pt>
                <c:pt idx="2">
                  <c:v>39.6</c:v>
                </c:pt>
                <c:pt idx="3">
                  <c:v>41.2</c:v>
                </c:pt>
                <c:pt idx="4">
                  <c:v>41.3</c:v>
                </c:pt>
                <c:pt idx="5">
                  <c:v>41.8</c:v>
                </c:pt>
                <c:pt idx="6">
                  <c:v>44.7</c:v>
                </c:pt>
                <c:pt idx="7">
                  <c:v>47.6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3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6M-25</c:v>
                </c:pt>
                <c:pt idx="4">
                  <c:v>6M-26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375.0</c:v>
                </c:pt>
                <c:pt idx="1">
                  <c:v>412.0</c:v>
                </c:pt>
                <c:pt idx="2">
                  <c:v>461.0</c:v>
                </c:pt>
                <c:pt idx="3">
                  <c:v>225.0</c:v>
                </c:pt>
                <c:pt idx="4">
                  <c:v>177.0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28575">
              <a:solidFill>
                <a:srgbClr val="C9861A"/>
              </a:solidFill>
            </a:ln>
          </c:spPr>
          <c:marker>
            <c:symbol val="circle"/>
            <c:size val="7"/>
            <c:spPr>
              <a:solidFill>
                <a:srgbClr val="C9861A"/>
              </a:solidFill>
              <a:ln>
                <a:solidFill>
                  <a:srgbClr val="C9861A"/>
                </a:solidFill>
              </a:ln>
            </c:spPr>
          </c:marker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6M-25</c:v>
                </c:pt>
                <c:pt idx="4">
                  <c:v>6M-26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62.7</c:v>
                </c:pt>
                <c:pt idx="1">
                  <c:v>62.6</c:v>
                </c:pt>
                <c:pt idx="2">
                  <c:v>64.8</c:v>
                </c:pt>
                <c:pt idx="3">
                  <c:v>63.0</c:v>
                </c:pt>
                <c:pt idx="4">
                  <c:v>45.9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5.0"/>
          <c:min val="3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Interest / OP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Carve-out FY25 ($13m / $339m)</c:v>
                </c:pt>
                <c:pt idx="1">
                  <c:v>Standalone normalized (~$110m / $353m)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</c:v>
                </c:pt>
                <c:pt idx="1">
                  <c:v>31.2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E7C86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FY16</c:v>
                </c:pt>
                <c:pt idx="1">
                  <c:v>FY18</c:v>
                </c:pt>
                <c:pt idx="2">
                  <c:v>FY19</c:v>
                </c:pt>
                <c:pt idx="3">
                  <c:v>FY21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17.0</c:v>
                </c:pt>
                <c:pt idx="1">
                  <c:v>20.0</c:v>
                </c:pt>
                <c:pt idx="2">
                  <c:v>23.0</c:v>
                </c:pt>
                <c:pt idx="3">
                  <c:v>27.0</c:v>
                </c:pt>
                <c:pt idx="4">
                  <c:v>38.0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CARFAX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6M-26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48.6</c:v>
                </c:pt>
                <c:pt idx="1">
                  <c:v>58.3</c:v>
                </c:pt>
                <c:pt idx="2">
                  <c:v>45.7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B2B</c:v>
                </c:pt>
              </c:strCache>
            </c:strRef>
          </c:tx>
          <c:spPr>
            <a:solidFill>
              <a:srgbClr val="C9861A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9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6M-26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70.6</c:v>
                </c:pt>
                <c:pt idx="1">
                  <c:v>-17.6</c:v>
                </c:pt>
                <c:pt idx="2">
                  <c:v>50.0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-3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Sheet1!$A$2:$A$10</c:f>
              <c:strCache>
                <c:ptCount val="9"/>
                <c:pt idx="0">
                  <c:v>Carve-out NI</c:v>
                </c:pt>
                <c:pt idx="1">
                  <c:v>+ Tax, interest</c:v>
                </c:pt>
                <c:pt idx="2">
                  <c:v>Operating profit</c:v>
                </c:pt>
                <c:pt idx="3">
                  <c:v>+ One-time items</c:v>
                </c:pt>
                <c:pt idx="4">
                  <c:v>- Standalone cost</c:v>
                </c:pt>
                <c:pt idx="5">
                  <c:v>Normalized OP</c:v>
                </c:pt>
                <c:pt idx="6">
                  <c:v>- Interest</c:v>
                </c:pt>
                <c:pt idx="7">
                  <c:v>- Tax @29.5%</c:v>
                </c:pt>
                <c:pt idx="8">
                  <c:v>Normalized NI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220.0</c:v>
                </c:pt>
                <c:pt idx="2">
                  <c:v>0.0</c:v>
                </c:pt>
                <c:pt idx="3">
                  <c:v>339.0</c:v>
                </c:pt>
                <c:pt idx="4">
                  <c:v>353.0</c:v>
                </c:pt>
                <c:pt idx="5">
                  <c:v>0.0</c:v>
                </c:pt>
                <c:pt idx="6">
                  <c:v>243.0</c:v>
                </c:pt>
                <c:pt idx="7">
                  <c:v>171.0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0"/>
          <c:dPt>
            <c:idx val="0"/>
            <c:spPr>
              <a:solidFill>
                <a:srgbClr val="1F3864"/>
              </a:solidFill>
              <a:ln>
                <a:noFill/>
              </a:ln>
            </c:spPr>
          </c:dPt>
          <c:dPt>
            <c:idx val="1"/>
            <c:spPr>
              <a:solidFill>
                <a:srgbClr val="0E7C86"/>
              </a:solidFill>
              <a:ln>
                <a:noFill/>
              </a:ln>
            </c:spPr>
          </c:dPt>
          <c:dPt>
            <c:idx val="2"/>
            <c:spPr>
              <a:solidFill>
                <a:srgbClr val="1F3864"/>
              </a:solidFill>
              <a:ln>
                <a:noFill/>
              </a:ln>
            </c:spPr>
          </c:dPt>
          <c:dPt>
            <c:idx val="3"/>
            <c:spPr>
              <a:solidFill>
                <a:srgbClr val="0E7C86"/>
              </a:solidFill>
              <a:ln>
                <a:noFill/>
              </a:ln>
            </c:spPr>
          </c:dPt>
          <c:dPt>
            <c:idx val="4"/>
            <c:spPr>
              <a:solidFill>
                <a:srgbClr val="B0413E"/>
              </a:solidFill>
              <a:ln>
                <a:noFill/>
              </a:ln>
            </c:spPr>
          </c:dPt>
          <c:dPt>
            <c:idx val="5"/>
            <c:spPr>
              <a:solidFill>
                <a:srgbClr val="1F3864"/>
              </a:solidFill>
              <a:ln>
                <a:noFill/>
              </a:ln>
            </c:spPr>
          </c:dPt>
          <c:dPt>
            <c:idx val="6"/>
            <c:spPr>
              <a:solidFill>
                <a:srgbClr val="B0413E"/>
              </a:solidFill>
              <a:ln>
                <a:noFill/>
              </a:ln>
            </c:spPr>
          </c:dPt>
          <c:dPt>
            <c:idx val="7"/>
            <c:spPr>
              <a:solidFill>
                <a:srgbClr val="B0413E"/>
              </a:solidFill>
              <a:ln>
                <a:noFill/>
              </a:ln>
            </c:spPr>
          </c:dPt>
          <c:dPt>
            <c:idx val="8"/>
            <c:spPr>
              <a:solidFill>
                <a:srgbClr val="1F3864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220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+119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339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+40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(26)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353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(110)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(72)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  <a:latin typeface="Arial"/>
                      </a:rPr>
                      <a:t>171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Carve-out NI</c:v>
                </c:pt>
                <c:pt idx="1">
                  <c:v>+ Tax, interest</c:v>
                </c:pt>
                <c:pt idx="2">
                  <c:v>Operating profit</c:v>
                </c:pt>
                <c:pt idx="3">
                  <c:v>+ One-time items</c:v>
                </c:pt>
                <c:pt idx="4">
                  <c:v>- Standalone cost</c:v>
                </c:pt>
                <c:pt idx="5">
                  <c:v>Normalized OP</c:v>
                </c:pt>
                <c:pt idx="6">
                  <c:v>- Interest</c:v>
                </c:pt>
                <c:pt idx="7">
                  <c:v>- Tax @29.5%</c:v>
                </c:pt>
                <c:pt idx="8">
                  <c:v>Normalized NI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220.0</c:v>
                </c:pt>
                <c:pt idx="1">
                  <c:v>119.0</c:v>
                </c:pt>
                <c:pt idx="2">
                  <c:v>339.0</c:v>
                </c:pt>
                <c:pt idx="3">
                  <c:v>40.0</c:v>
                </c:pt>
                <c:pt idx="4">
                  <c:v>26.0</c:v>
                </c:pt>
                <c:pt idx="5">
                  <c:v>353.0</c:v>
                </c:pt>
                <c:pt idx="6">
                  <c:v>110.0</c:v>
                </c:pt>
                <c:pt idx="7">
                  <c:v>72.0</c:v>
                </c:pt>
                <c:pt idx="8">
                  <c:v>171.0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Q1-26 (implied)</c:v>
                </c:pt>
                <c:pt idx="1">
                  <c:v>Q2-26</c:v>
                </c:pt>
                <c:pt idx="2">
                  <c:v>6M-26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16.0</c:v>
                </c:pt>
                <c:pt idx="2">
                  <c:v>36.0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business</c:v>
                </c:pt>
              </c:strCache>
            </c:strRef>
          </c:tx>
          <c:spPr>
            <a:solidFill>
              <a:srgbClr val="0E7C86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Q1-26 (implied)</c:v>
                </c:pt>
                <c:pt idx="1">
                  <c:v>Q2-26</c:v>
                </c:pt>
                <c:pt idx="2">
                  <c:v>6M-26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12.0</c:v>
                </c:pt>
                <c:pt idx="1">
                  <c:v>8.0</c:v>
                </c:pt>
                <c:pt idx="2">
                  <c:v>20.0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(underwriting, FX, non-sub.)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900" b="1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Q1-26 (implied)</c:v>
                </c:pt>
                <c:pt idx="1">
                  <c:v>Q2-26</c:v>
                </c:pt>
                <c:pt idx="2">
                  <c:v>6M-26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3.0</c:v>
                </c:pt>
                <c:pt idx="1">
                  <c:v>5.0</c:v>
                </c:pt>
                <c:pt idx="2">
                  <c:v>8.0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MBGL organic growth (deck s.91)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10.0</c:v>
                </c:pt>
                <c:pt idx="1">
                  <c:v>11.0</c:v>
                </c:pt>
                <c:pt idx="2">
                  <c:v>14.0</c:v>
                </c:pt>
                <c:pt idx="3">
                  <c:v>11.0</c:v>
                </c:pt>
                <c:pt idx="4">
                  <c:v>10.0</c:v>
                </c:pt>
                <c:pt idx="5">
                  <c:v>-2.0</c:v>
                </c:pt>
                <c:pt idx="6">
                  <c:v>18.0</c:v>
                </c:pt>
                <c:pt idx="7">
                  <c:v>10.0</c:v>
                </c:pt>
                <c:pt idx="8">
                  <c:v>9.0</c:v>
                </c:pt>
                <c:pt idx="9">
                  <c:v>9.0</c:v>
                </c:pt>
                <c:pt idx="10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 vehicle sales growth (FRED)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6.0</c:v>
                </c:pt>
                <c:pt idx="1">
                  <c:v>0.0</c:v>
                </c:pt>
                <c:pt idx="2">
                  <c:v>-2.0</c:v>
                </c:pt>
                <c:pt idx="3">
                  <c:v>1.0</c:v>
                </c:pt>
                <c:pt idx="4">
                  <c:v>-1.0</c:v>
                </c:pt>
                <c:pt idx="5">
                  <c:v>-15.0</c:v>
                </c:pt>
                <c:pt idx="6">
                  <c:v>4.0</c:v>
                </c:pt>
                <c:pt idx="7">
                  <c:v>-8.0</c:v>
                </c:pt>
                <c:pt idx="8">
                  <c:v>13.0</c:v>
                </c:pt>
                <c:pt idx="9">
                  <c:v>2.0</c:v>
                </c:pt>
                <c:pt idx="10">
                  <c:v>2.0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-2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Mobility Global (MBGL): a wide-moat vehicle-data utility being priced for a growth rate it no longer prints</a:t>
            </a:r>
          </a:p>
          <a:p>
            <a:r>
              <a:t>Sources: analysis/SYNTHESIS.md; deliverables/PART_A_SUMMARY.md; canonical/primary.csv; extraction/segments_kpi.csv</a:t>
            </a:r>
          </a:p>
          <a:p>
            <a:r>
              <a:t>Numbers on this slide (value [tier] - source / row):</a:t>
            </a:r>
          </a:p>
          <a:p>
            <a:r>
              <a:t>- Revenue FY2025: $1,750m [D] - canonical/primary.csv [canon_key=IS.revenue; period=FY2025]</a:t>
            </a:r>
          </a:p>
          <a:p>
            <a:r>
              <a:t>- Adj. EBITDA FY2025: $711m [D] - extraction/segments_kpi.csv [line_item=Adjusted EBITDA; fiscal_period=FY2025; page=358]</a:t>
            </a:r>
          </a:p>
          <a:p>
            <a:r>
              <a:t>- Adj. EBITDA margin FY2025: 40.6% [C] - computed: ae_FY2025/rev_FY2025*100</a:t>
            </a:r>
          </a:p>
          <a:p>
            <a:r>
              <a:t>- Free cash flow FY2025: $461m [D] - extraction/segments_kpi.csv [line_item=Free cash flow; fiscal_period=FY2025; page=361]</a:t>
            </a:r>
          </a:p>
          <a:p>
            <a:r>
              <a:t>- FY26 revenue growth guide low: 6.9% [D] - extraction/segments_kpi.csv [line_item=Revenue Growth - low end; fiscal_period=FY2026E]</a:t>
            </a:r>
          </a:p>
          <a:p>
            <a:r>
              <a:t>- FY26 revenue growth guide high: 7.7% [D] - extraction/segments_kpi.csv [line_item=Revenue Growth - high end; fiscal_period=FY2026E]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The CARFAX moat is real and widening, but growth is now price-led and the margin story keeps resetting</a:t>
            </a:r>
          </a:p>
          <a:p>
            <a:r>
              <a:t>Sources: analysis/SYNTHESIS.md; analysis/D1_moat.md; analysis/D3_group_decomposition.md; analysis/D4_disclosure_changes.md; analysis/D5_incentives.md; analysis/D7_pricing.md; extraction/segments_kpi.csv (10Q p.27); canonical/primary.csv</a:t>
            </a:r>
          </a:p>
          <a:p>
            <a:r>
              <a:t>Numbers on this slide (value [tier] - source / row):</a:t>
            </a:r>
          </a:p>
          <a:p>
            <a:r>
              <a:t>- Price increases 6M-26 (approx.): $36m [D] - extraction/segments_kpi.csv [line_item=Revenue increase from price increases (approximately); fiscal_period=6M-2026]</a:t>
            </a:r>
          </a:p>
          <a:p>
            <a:r>
              <a:t>- 6M-26 revenue increase: $64m [C] - computed: rev_6M-2026-rev_6M-2025</a:t>
            </a:r>
          </a:p>
          <a:p>
            <a:r>
              <a:t>- Price points of 6M growth: 4.2% [C] - computed: k_price_6M/rev_6M-2025*100</a:t>
            </a:r>
          </a:p>
          <a:p>
            <a:r>
              <a:t>- 1H-26 revenue growth: 7.5% [C] - computed: (rev_6M-2026/rev_6M-2025-1)*100</a:t>
            </a:r>
          </a:p>
          <a:p>
            <a:r>
              <a:t>- Q1-26 implied new business: $12m [C] - computed: k_nbq_6M-k_nbq_Q2</a:t>
            </a:r>
          </a:p>
          <a:p>
            <a:r>
              <a:t>- New business Q2-26 (approx.): $8m [D] - extraction/segments_kpi.csv [line_item=Revenue increase from continued new business growth (approximately); fiscal_period=Q2-2026]</a:t>
            </a:r>
          </a:p>
          <a:p>
            <a:r>
              <a:t>- Contributory network sources (more than): 177,000 [D] - extraction/segments_kpi.csv [line_item=Contributory network sources (more than); fiscal_period=FY2025]</a:t>
            </a:r>
          </a:p>
          <a:p>
            <a:r>
              <a:t>- CARFAX vehicle history records (more than): 38,000,000,000 [D] - extraction/segments_kpi.csv [line_item=CARFAX vehicle history records (more than); fiscal_period=FY2025]</a:t>
            </a:r>
          </a:p>
          <a:p>
            <a:r>
              <a:t>- VH records CAGR FY16-25: 9.3% [C] - computed: ((k_records/1e9/rec_FY2016)(1/9)-1)*100</a:t>
            </a:r>
          </a:p>
          <a:p>
            <a:r>
              <a:t>- Years organic beat industry: 10 of 11 [C] - analysis/D1_moat.md [section=section 4.1; evidence=In ten of eleven years]</a:t>
            </a:r>
          </a:p>
          <a:p>
            <a:r>
              <a:t>- B2B growth FY24: 3.1% [C] - computed: (b2b_rev_FY2024/b2b_rev_FY2023-1)*100</a:t>
            </a:r>
          </a:p>
          <a:p>
            <a:r>
              <a:t>- B2B growth FY25: 5.9% [C] - computed: (b2b_rev_FY2025/b2b_rev_FY2024-1)*100</a:t>
            </a:r>
          </a:p>
          <a:p>
            <a:r>
              <a:t>- B2B flow-through FY25: -17.6% [C] - computed: (b2b_ae_FY2025-b2b_ae_FY2024)/(b2b_rev_FY2025-b2b_rev_FY2024)*100</a:t>
            </a:r>
          </a:p>
          <a:p>
            <a:r>
              <a:t>- SPGI 2025/26 margin target: 41-43% [D] - analysis/D10_guidance_vs_execution.md [section=section 1 scorecard; evidence=41–43% adj. OP margin]</a:t>
            </a:r>
          </a:p>
          <a:p>
            <a:r>
              <a:t>- SPGI Mobility adj. OP margin FY25: 39.9% [D] - analysis/D10_guidance_vs_execution.md [section=section 1 scorecard; evidence=39.9% [D]]</a:t>
            </a:r>
          </a:p>
          <a:p>
            <a:r>
              <a:t>- Interest expense, net FY25: $13m [D] - canonical/primary.csv [canon_key=IS.int; period=FY2025]</a:t>
            </a:r>
          </a:p>
          <a:p>
            <a:r>
              <a:t>- Run-rate interest: 110 [C] - analysis/D3_group_decomposition.md [section=section 4 (A4); evidence=Run-rate interest (A4) | (110)]</a:t>
            </a:r>
          </a:p>
          <a:p>
            <a:r>
              <a:t>- Interest / standalone normalized OP: 31.2% [C] - computed: b_interest/b_norm_op*100</a:t>
            </a:r>
          </a:p>
          <a:p>
            <a:r>
              <a:t>- Standalone normalized NI FY25 base: $171m [C] - computed: b_pretax-b_tax</a:t>
            </a:r>
          </a:p>
          <a:p>
            <a:r>
              <a:t>- Net income FY2025: $220m [D] - canonical/primary.csv [canon_key=IS.ni; period=FY2025]</a:t>
            </a:r>
          </a:p>
          <a:p>
            <a:r>
              <a:t>- Payout on FY25-base normalized NI: 41.4% [C] - computed: c_div/b_ni*100</a:t>
            </a:r>
          </a:p>
          <a:p>
            <a:r>
              <a:t>- Dividend / standalone FCF: 19.4% [C] - computed: c_div/c_fcf_standalone*100</a:t>
            </a:r>
          </a:p>
          <a:p>
            <a:r>
              <a:t>- B2B segment OP Q2-26: 3 [D] - analysis/D3_group_decomposition.md [section=section 1 Basis 1; evidence=| Q2-2026 | 101 | 3 | (22) | 82 |]</a:t>
            </a:r>
          </a:p>
          <a:p>
            <a:r>
              <a:t>- Revenue CAGR FY23-25: 8.6% [C] - computed: ((rev_FY2025/rev_FY2023)0.5-1)*100</a:t>
            </a:r>
          </a:p>
          <a:p>
            <a:r>
              <a:t>- FY26 revenue growth guide low: 6.9% [D] - extraction/segments_kpi.csv [line_item=Revenue Growth - low end; fiscal_period=FY2026E]</a:t>
            </a:r>
          </a:p>
          <a:p>
            <a:r>
              <a:t>- FY26 revenue growth guide high: 7.7% [D] - extraction/segments_kpi.csv [line_item=Revenue Growth - high end; fiscal_period=FY2026E]</a:t>
            </a:r>
          </a:p>
          <a:p>
            <a:r>
              <a:t>- Gross leverage at spin: 2.7 [IR] - transcripts/TARGETS_TIMELINE.md [section=Leverage row; evidence=Gross 2.7x, net 2.4x]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A $1.75bn VIN-keyed data utility: 81% subscription, two-thirds CARFAX, and roughly 60% paid for by dealers</a:t>
            </a:r>
          </a:p>
          <a:p>
            <a:r>
              <a:t>Sources: canonical/primary.csv; extraction/segments_kpi.csv (10A p.262-263, 358-361, 462-463); extraction/presentations.csv (ID s.10); analysis/QUALITATIVE.md §1-3</a:t>
            </a:r>
          </a:p>
          <a:p>
            <a:r>
              <a:t>Numbers on this slide (value [tier] - source / row):</a:t>
            </a:r>
          </a:p>
          <a:p>
            <a:r>
              <a:t>- Revenue FY2025: $1,750m [D] - canonical/primary.csv [canon_key=IS.revenue; period=FY2025]</a:t>
            </a:r>
          </a:p>
          <a:p>
            <a:r>
              <a:t>- Adj. EBITDA FY2025: $711m [D] - extraction/segments_kpi.csv [line_item=Adjusted EBITDA; fiscal_period=FY2025; page=358]</a:t>
            </a:r>
          </a:p>
          <a:p>
            <a:r>
              <a:t>- Adj. EBITDA margin FY2025: 40.6% [C] - computed: ae_FY2025/rev_FY2025*100</a:t>
            </a:r>
          </a:p>
          <a:p>
            <a:r>
              <a:t>- Free cash flow FY2025: $461m [D] - extraction/segments_kpi.csv [line_item=Free cash flow; fiscal_period=FY2025; page=361]</a:t>
            </a:r>
          </a:p>
          <a:p>
            <a:r>
              <a:t>- Subscription revenue FY25: $1,426m [D] - extraction/segments_kpi.csv [line_item=Total: Subscription; fiscal_period=FY2025]</a:t>
            </a:r>
          </a:p>
          <a:p>
            <a:r>
              <a:t>- Subscription share FY25: 81.5% [C] - computed: sub_FY2025/rev_FY2025*100</a:t>
            </a:r>
          </a:p>
          <a:p>
            <a:r>
              <a:t>- Contributory network sources (more than): 177,000 [D] - extraction/segments_kpi.csv [line_item=Contributory network sources (more than); fiscal_period=FY2025]</a:t>
            </a:r>
          </a:p>
          <a:p>
            <a:r>
              <a:t>- CARFAX vehicle history records (more than): 38,000,000,000 [D] - extraction/segments_kpi.csv [line_item=CARFAX vehicle history records (more than); fiscal_period=FY2025]</a:t>
            </a:r>
          </a:p>
          <a:p>
            <a:r>
              <a:t>- CARFAX dealer customers (over): 40,000 [D] - extraction/segments_kpi.csv [line_item=CARFAX dealer customers (over); fiscal_period=FY2025]</a:t>
            </a:r>
          </a:p>
          <a:p>
            <a:r>
              <a:t>- International revenue FY25: $296m [D] - extraction/segments_kpi.csv [line_item=International; fiscal_period=FY2025; page=463]</a:t>
            </a:r>
          </a:p>
          <a:p>
            <a:r>
              <a:t>- International share FY25: 16.9% [C] - computed: intl_FY2025/rev_FY2025*100</a:t>
            </a:r>
          </a:p>
          <a:p>
            <a:r>
              <a:t>- CARFAX share of FY25 revenue: 65.3% [C] - computed: carfax_rev_FY2025/rev_FY2025*100</a:t>
            </a:r>
          </a:p>
          <a:p>
            <a:r>
              <a:t>- CARFAX Adj. EBITDA margin FY2025: 46.9% [C] - computed: carfax_ae_FY2025/carfax_rev_FY2025*100</a:t>
            </a:r>
          </a:p>
          <a:p>
            <a:r>
              <a:t>- B2B Adj. EBITDA margin FY2025: 32.4% [C] - computed: b2b_ae_FY2025/b2b_rev_FY2025*100</a:t>
            </a:r>
          </a:p>
          <a:p>
            <a:r>
              <a:t>- Revenue by customer type: Dealer (deck): 62% [D] - extraction/presentations.csv [page=10; line_item_contains=Dealer ( B2B &amp; CARFAX ); fiscal_period=FY2025]</a:t>
            </a:r>
          </a:p>
          <a:p>
            <a:r>
              <a:t>- Revenue by customer type: OEM &amp; Supplier (deck): 20% [D] - extraction/presentations.csv [page=10; line_item_contains=OEM &amp; Supplier; fiscal_period=FY2025]</a:t>
            </a:r>
          </a:p>
          <a:p>
            <a:r>
              <a:t>- Revenue by customer type: Financial/Consumer/Other (deck): 18% [D] - extraction/presentations.csv [page=10; line_item_contains=Financial / Consumer / Other; fiscal_period=FY2025]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Four ownership eras since 2013: every change of owner breaks the comparability of the numbers</a:t>
            </a:r>
          </a:p>
          <a:p>
            <a:r>
              <a:t>Sources: analysis/QUALITATIVE.md §11; deliverables/PART_A_SUMMARY.md (structural breaks); extraction/predecessor_NOTES.md; analysis/SYNTHESIS.md (caveats)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CARFAX is two-thirds of revenue and has grown 2-3x faster than B2B, at a 15pt higher margin</a:t>
            </a:r>
          </a:p>
          <a:p>
            <a:r>
              <a:t>Sources: extraction/segments_kpi.csv (10A p.359-361, 461-462; 10Q p.14); extraction/presentations.csv (ID s.34, s.57); analysis/D2_unit_economics.md (d)</a:t>
            </a:r>
          </a:p>
          <a:p>
            <a:r>
              <a:t>Numbers on this slide (value [tier] - source / row):</a:t>
            </a:r>
          </a:p>
          <a:p>
            <a:r>
              <a:t>- CARFAX revenue FY2023: $928m [D] - extraction/segments_kpi.csv [line_item=CARFAX: Revenue; fiscal_period=FY2023]</a:t>
            </a:r>
          </a:p>
          <a:p>
            <a:r>
              <a:t>- CARFAX revenue FY2024: $1,039m [D] - extraction/segments_kpi.csv [line_item=CARFAX: Revenue; fiscal_period=FY2024]</a:t>
            </a:r>
          </a:p>
          <a:p>
            <a:r>
              <a:t>- CARFAX revenue FY2025: $1,142m [D] - extraction/segments_kpi.csv [line_item=CARFAX: Revenue; fiscal_period=FY2025]</a:t>
            </a:r>
          </a:p>
          <a:p>
            <a:r>
              <a:t>- B2B revenue FY2023: $557m [D] - extraction/segments_kpi.csv [line_item=B2B: Revenue; fiscal_period=FY2023]</a:t>
            </a:r>
          </a:p>
          <a:p>
            <a:r>
              <a:t>- B2B revenue FY2024: $574m [D] - extraction/segments_kpi.csv [line_item=B2B: Revenue; fiscal_period=FY2024]</a:t>
            </a:r>
          </a:p>
          <a:p>
            <a:r>
              <a:t>- B2B revenue FY2025: $608m [D] - extraction/segments_kpi.csv [line_item=B2B: Revenue; fiscal_period=FY2025]</a:t>
            </a:r>
          </a:p>
          <a:p>
            <a:r>
              <a:t>- CARFAX mix: Advantage: 38% [D] - extraction/presentations.csv [page=57; line_item_contains=PRODUCT &amp; INTERNATIONAL - Advantage; fiscal_period=FY2025]</a:t>
            </a:r>
          </a:p>
          <a:p>
            <a:r>
              <a:t>- CARFAX mix: Financial/Consumer/Other: 26% [D] - extraction/presentations.csv [page=57; line_item_contains=PRODUCT &amp; INTERNATIONAL - Financial; fiscal_period=FY2025]</a:t>
            </a:r>
          </a:p>
          <a:p>
            <a:r>
              <a:t>- CARFAX mix: Listings: 22% [D] - extraction/presentations.csv [page=57; line_item_contains=PRODUCT &amp; INTERNATIONAL - Listings; fiscal_period=FY2025]</a:t>
            </a:r>
          </a:p>
          <a:p>
            <a:r>
              <a:t>- CARFAX mix: International: 15% [D] - extraction/presentations.csv [page=57; line_item_contains=PRODUCT &amp; INTERNATIONAL - International; fiscal_period=FY2025]</a:t>
            </a:r>
          </a:p>
          <a:p>
            <a:r>
              <a:t>- CARFAX growth FY24: 12.0% [C] - computed: (carfax_rev_FY2024/carfax_rev_FY2023-1)*100</a:t>
            </a:r>
          </a:p>
          <a:p>
            <a:r>
              <a:t>- CARFAX growth FY25: 9.9% [C] - computed: (carfax_rev_FY2025/carfax_rev_FY2024-1)*100</a:t>
            </a:r>
          </a:p>
          <a:p>
            <a:r>
              <a:t>- CARFAX growth 6M-26: 8.2% [C] - computed: (carfax_rev_6M-2026/carfax_rev_6M-2025-1)*100</a:t>
            </a:r>
          </a:p>
          <a:p>
            <a:r>
              <a:t>- B2B growth FY24: 3.1% [C] - computed: (b2b_rev_FY2024/b2b_rev_FY2023-1)*100</a:t>
            </a:r>
          </a:p>
          <a:p>
            <a:r>
              <a:t>- B2B growth FY25: 5.9% [C] - computed: (b2b_rev_FY2025/b2b_rev_FY2024-1)*100</a:t>
            </a:r>
          </a:p>
          <a:p>
            <a:r>
              <a:t>- B2B growth 6M-26: 6.1% [C] - computed: (b2b_rev_6M-2026/b2b_rev_6M-2025-1)*100</a:t>
            </a:r>
          </a:p>
          <a:p>
            <a:r>
              <a:t>- CARFAX Adj. EBITDA margin FY2025: 46.9% [C] - computed: carfax_ae_FY2025/carfax_rev_FY2025*100</a:t>
            </a:r>
          </a:p>
          <a:p>
            <a:r>
              <a:t>- B2B Adj. EBITDA margin FY2025: 32.4% [C] - computed: b2b_ae_FY2025/b2b_rev_FY2025*100</a:t>
            </a:r>
          </a:p>
          <a:p>
            <a:r>
              <a:t>- B2B line: Marketing &amp; Sales: 74% [D] - extraction/presentations.csv [page=34; line_item_contains=BUSINESS LINE - Marketing &amp; Sales; fiscal_period=FY2025]</a:t>
            </a:r>
          </a:p>
          <a:p>
            <a:r>
              <a:t>- B2B line: Strategy &amp; Planning: 26% [D] - extraction/presentations.csv [page=34; line_item_contains=BUSINESS LINE - Strategy &amp; Planning; fiscal_period=FY2025]</a:t>
            </a:r>
          </a:p>
          <a:p>
            <a:r>
              <a:t>- CARFAX Adj. EBITDA margin FY2023: 45.5% [C] - computed: carfax_ae_FY2023/carfax_rev_FY2023*100</a:t>
            </a:r>
          </a:p>
          <a:p>
            <a:r>
              <a:t>- CARFAX Adj. EBITDA margin 6M-26: 48.0% [C] - computed: carfax_ae_6M-2026/carfax_rev_6M-2026*100</a:t>
            </a:r>
          </a:p>
          <a:p>
            <a:r>
              <a:t>- B2B Adj. EBITDA margin FY2024: 35.4% [C] - computed: b2b_ae_FY2024/b2b_rev_FY2024*100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Carve-out revenue compounded 8.6% and Adj. EBITDA 9.0% over FY23-25, with the margin flat at ~40-42%</a:t>
            </a:r>
          </a:p>
          <a:p>
            <a:r>
              <a:t>Sources: canonical/primary.csv (IS.revenue); extraction/segments_kpi.csv (10A p.358 Adj. EBITDA recon; 10Q p.15 Note 7); deliverables/PART_A_SUMMARY.md</a:t>
            </a:r>
          </a:p>
          <a:p>
            <a:r>
              <a:t>Numbers on this slide (value [tier] - source / row):</a:t>
            </a:r>
          </a:p>
          <a:p>
            <a:r>
              <a:t>- Revenue FY2023: $1,485m [D] - canonical/primary.csv [canon_key=IS.revenue; period=FY2023]</a:t>
            </a:r>
          </a:p>
          <a:p>
            <a:r>
              <a:t>- Revenue FY2024: $1,613m [D] - canonical/primary.csv [canon_key=IS.revenue; period=FY2024]</a:t>
            </a:r>
          </a:p>
          <a:p>
            <a:r>
              <a:t>- Revenue FY2025: $1,750m [D] - canonical/primary.csv [canon_key=IS.revenue; period=FY2025]</a:t>
            </a:r>
          </a:p>
          <a:p>
            <a:r>
              <a:t>- Revenue 6M-2025: $859m [D] - canonical/primary.csv [canon_key=IS.revenue; period=6M-2025]</a:t>
            </a:r>
          </a:p>
          <a:p>
            <a:r>
              <a:t>- Revenue 6M-2026: $923m [D] - canonical/primary.csv [canon_key=IS.revenue; period=6M-2026]</a:t>
            </a:r>
          </a:p>
          <a:p>
            <a:r>
              <a:t>- Adj. EBITDA FY2023: $598m [D] - extraction/segments_kpi.csv [line_item=Adjusted EBITDA; fiscal_period=FY2023; page=358]</a:t>
            </a:r>
          </a:p>
          <a:p>
            <a:r>
              <a:t>- Adj. EBITDA FY2024: $658m [D] - extraction/segments_kpi.csv [line_item=Adjusted EBITDA; fiscal_period=FY2024; page=358]</a:t>
            </a:r>
          </a:p>
          <a:p>
            <a:r>
              <a:t>- Adj. EBITDA FY2025: $711m [D] - extraction/segments_kpi.csv [line_item=Adjusted EBITDA; fiscal_period=FY2025; page=358]</a:t>
            </a:r>
          </a:p>
          <a:p>
            <a:r>
              <a:t>- Adj. EBITDA 6M-2025: $357m [D] - extraction/segments_kpi.csv [line_item=Adjusted EBITDA; fiscal_period=6M-2025; page=15]</a:t>
            </a:r>
          </a:p>
          <a:p>
            <a:r>
              <a:t>- Adj. EBITDA 6M-2026: $386m [D] - extraction/segments_kpi.csv [line_item=Adjusted EBITDA; fiscal_period=6M-2026; page=15]</a:t>
            </a:r>
          </a:p>
          <a:p>
            <a:r>
              <a:t>- Adj. EBITDA margin FY2023: 40.3% [C] - computed: ae_FY2023/rev_FY2023*100</a:t>
            </a:r>
          </a:p>
          <a:p>
            <a:r>
              <a:t>- Adj. EBITDA margin FY2024: 40.8% [C] - computed: ae_FY2024/rev_FY2024*100</a:t>
            </a:r>
          </a:p>
          <a:p>
            <a:r>
              <a:t>- Adj. EBITDA margin FY2025: 40.6% [C] - computed: ae_FY2025/rev_FY2025*100</a:t>
            </a:r>
          </a:p>
          <a:p>
            <a:r>
              <a:t>- Adj. EBITDA margin 6M-2025: 41.6% [C] - computed: ae_6M-2025/rev_6M-2025*100</a:t>
            </a:r>
          </a:p>
          <a:p>
            <a:r>
              <a:t>- Adj. EBITDA margin 6M-2026: 41.8% [C] - computed: ae_6M-2026/rev_6M-2026*100</a:t>
            </a:r>
          </a:p>
          <a:p>
            <a:r>
              <a:t>- Revenue CAGR FY23-25: 8.6% [C] - computed: ((rev_FY2025/rev_FY2023)0.5-1)*100</a:t>
            </a:r>
          </a:p>
          <a:p>
            <a:r>
              <a:t>- Adj. EBITDA CAGR FY23-25: 9.0% [C] - computed: ((ae_FY2025/ae_FY2023)0.5-1)*100</a:t>
            </a:r>
          </a:p>
          <a:p>
            <a:r>
              <a:t>- Operating profit FY2025: $339m [D] - canonical/primary.csv [canon_key=IS.op; period=FY2025]</a:t>
            </a:r>
          </a:p>
          <a:p>
            <a:r>
              <a:t>- Amortization of acquired intangibles FY25: $296m [D] - canonical/primary.csv [canon_key=IS.amort; period=FY2025]</a:t>
            </a:r>
          </a:p>
          <a:p>
            <a:r>
              <a:t>- Net income 6M-2026: $108m [D] - canonical/primary.csv [canon_key=IS.ni; period=6M-2026]</a:t>
            </a:r>
          </a:p>
          <a:p>
            <a:r>
              <a:t>- Net income 6M-2025: $123m [D] - canonical/primary.csv [canon_key=IS.ni; period=6M-2025]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The IHS-era Transportation segment compounded revenue 10.8% to FY21, but on a broader scope that cannot be spliced to the carve-out</a:t>
            </a:r>
          </a:p>
          <a:p>
            <a:r>
              <a:t>Sources: extraction/predecessor.csv (INFO 10-K FY2016-FY2021 segment notes; SPGI 10-K FY2022-25 Mobility table); extraction/predecessor_NOTES.md; analysis/SYNTHESIS.md (caveats)</a:t>
            </a:r>
          </a:p>
          <a:p>
            <a:r>
              <a:t>Numbers on this slide (value [tier] - source / row):</a:t>
            </a:r>
          </a:p>
          <a:p>
            <a:r>
              <a:t>- IHS Transportation revenue FY2014: $662.6m [D] - extraction/predecessor.csv [line_item=Revenue - Transportation; fiscal_period=FY2014]</a:t>
            </a:r>
          </a:p>
          <a:p>
            <a:r>
              <a:t>- IHS Transportation revenue FY2015: $758.4m [D] - extraction/predecessor.csv [line_item=Revenue - Transportation; fiscal_period=FY2015]</a:t>
            </a:r>
          </a:p>
          <a:p>
            <a:r>
              <a:t>- IHS Transportation revenue FY2016: $892.8m [D] - extraction/predecessor.csv [line_item=Revenue - Transportation; fiscal_period=FY2016]</a:t>
            </a:r>
          </a:p>
          <a:p>
            <a:r>
              <a:t>- IHS Transportation revenue FY2017: $991.6m [D] - extraction/predecessor.csv [line_item=Revenue - Transportation; fiscal_period=FY2017]</a:t>
            </a:r>
          </a:p>
          <a:p>
            <a:r>
              <a:t>- IHS Transportation revenue FY2018: $1,160.2m [D] - extraction/predecessor.csv [line_item=Revenue - Transportation; fiscal_period=FY2018]</a:t>
            </a:r>
          </a:p>
          <a:p>
            <a:r>
              <a:t>- IHS Transportation revenue FY2019: $1,246.1m [D] - extraction/predecessor.csv [line_item=Revenue - Transportation; fiscal_period=FY2019]</a:t>
            </a:r>
          </a:p>
          <a:p>
            <a:r>
              <a:t>- IHS Transportation revenue FY2020: $1,151.6m [D] - extraction/predecessor.csv [line_item=Revenue - Transportation; fiscal_period=FY2020]</a:t>
            </a:r>
          </a:p>
          <a:p>
            <a:r>
              <a:t>- IHS Transportation revenue FY2021: $1,354.4m [D] - extraction/predecessor.csv [line_item=Revenue - Transportation; fiscal_period=FY2021]</a:t>
            </a:r>
          </a:p>
          <a:p>
            <a:r>
              <a:t>- IHS Transportation Adj. EBITDA FY2014: $234.3m [D] - extraction/predecessor.csv [line_item=Adjusted EBITDA - Transportation; fiscal_period=FY2014]</a:t>
            </a:r>
          </a:p>
          <a:p>
            <a:r>
              <a:t>- IHS Transportation Adj. EBITDA FY2015: $282.7m [D] - extraction/predecessor.csv [line_item=Adjusted EBITDA - Transportation; fiscal_period=FY2015]</a:t>
            </a:r>
          </a:p>
          <a:p>
            <a:r>
              <a:t>- IHS Transportation Adj. EBITDA FY2016: $353.3m [D] - extraction/predecessor.csv [line_item=Adjusted EBITDA - Transportation; fiscal_period=FY2016]</a:t>
            </a:r>
          </a:p>
          <a:p>
            <a:r>
              <a:t>- IHS Transportation Adj. EBITDA FY2017: $408.6m [D] - extraction/predecessor.csv [line_item=Adjusted EBITDA - Transportation; fiscal_period=FY2017]</a:t>
            </a:r>
          </a:p>
          <a:p>
            <a:r>
              <a:t>- IHS Transportation Adj. EBITDA FY2018: $479.3m [D] - extraction/predecessor.csv [line_item=Adjusted EBITDA - Transportation; fiscal_period=FY2018]</a:t>
            </a:r>
          </a:p>
          <a:p>
            <a:r>
              <a:t>- IHS Transportation Adj. EBITDA FY2019: $520.9m [D] - extraction/predecessor.csv [line_item=Adjusted EBITDA - Transportation; fiscal_period=FY2019]</a:t>
            </a:r>
          </a:p>
          <a:p>
            <a:r>
              <a:t>- IHS Transportation Adj. EBITDA FY2020: $514.7m [D] - extraction/predecessor.csv [line_item=Adjusted EBITDA - Transportation; fiscal_period=FY2020]</a:t>
            </a:r>
          </a:p>
          <a:p>
            <a:r>
              <a:t>- IHS Transportation Adj. EBITDA FY2021: $645m [D] - extraction/predecessor.csv [line_item=Adjusted EBITDA - Transportation; fiscal_period=FY2021]</a:t>
            </a:r>
          </a:p>
          <a:p>
            <a:r>
              <a:t>- IHS Transportation Adj. EBITDA margin FY2014: 35.4% [C] - computed: p_ae_FY2014/p_rev_FY2014*100 (Adj. EBITDA / revenue)</a:t>
            </a:r>
          </a:p>
          <a:p>
            <a:r>
              <a:t>- IHS Transportation Adj. EBITDA margin FY2015: 37.3% [C] - computed: p_ae_FY2015/p_rev_FY2015*100 (Adj. EBITDA / revenue)</a:t>
            </a:r>
          </a:p>
          <a:p>
            <a:r>
              <a:t>- IHS Transportation Adj. EBITDA margin FY2016: 39.6% [C] - computed: p_ae_FY2016/p_rev_FY2016*100 (Adj. EBITDA / revenue)</a:t>
            </a:r>
          </a:p>
          <a:p>
            <a:r>
              <a:t>- IHS Transportation Adj. EBITDA margin FY2017: 41.2% [C] - computed: p_ae_FY2017/p_rev_FY2017*100 (Adj. EBITDA / revenue)</a:t>
            </a:r>
          </a:p>
          <a:p>
            <a:r>
              <a:t>- IHS Transportation Adj. EBITDA margin FY2018: 41.3% [C] - computed: p_ae_FY2018/p_rev_FY2018*100 (Adj. EBITDA / revenue)</a:t>
            </a:r>
          </a:p>
          <a:p>
            <a:r>
              <a:t>- IHS Transportation Adj. EBITDA margin FY2019: 41.8% [C] - computed: p_ae_FY2019/p_rev_FY2019*100 (Adj. EBITDA / revenue)</a:t>
            </a:r>
          </a:p>
          <a:p>
            <a:r>
              <a:t>- IHS Transportation Adj. EBITDA margin FY2020: 44.7% [C] - computed: p_ae_FY2020/p_rev_FY2020*100 (Adj. EBITDA / revenue)</a:t>
            </a:r>
          </a:p>
          <a:p>
            <a:r>
              <a:t>- IHS Transportation Adj. EBITDA margin FY2021: 47.6% [C] - computed: p_ae_FY2021/p_rev_FY2021*100 (Adj. EBITDA / revenue)</a:t>
            </a:r>
          </a:p>
          <a:p>
            <a:r>
              <a:t>- IHS Transportation revenue CAGR FY14-21: 10.8% [C] - computed: ((p_rev_FY2021/p_rev_FY2014)(1/7)-1)*100</a:t>
            </a:r>
          </a:p>
          <a:p>
            <a:r>
              <a:t>- IHS Transportation Adj. EBITDA CAGR FY14-21: 15.6% [C] - computed: ((p_ae_FY2021/p_ae_FY2014)(1/7)-1)*100</a:t>
            </a:r>
          </a:p>
          <a:p>
            <a:r>
              <a:t>- SPGI Mobility revenue FY2022: $1,142m [D] - extraction/predecessor.csv [line_item=Revenue; fiscal_period=FY2022]</a:t>
            </a:r>
          </a:p>
          <a:p>
            <a:r>
              <a:t>- SPGI Mobility revenue FY2025: $1,747m [D] - extraction/predecessor.csv [line_item=Revenue; fiscal_period=FY2025]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Cash conversion of 63-65% is structural, but 1H-26 fell to 46% as spin costs and working capital hit</a:t>
            </a:r>
          </a:p>
          <a:p>
            <a:r>
              <a:t>Sources: extraction/segments_kpi.csv (10A p.361 FCF recon; 10Q p.26); canonical/primary.csv (CF.cfo, CF.capex); extraction/presentations.csv (ID s.111); analysis/D2_unit_economics.md (e); analysis/D3_group_decomposition.md §5</a:t>
            </a:r>
          </a:p>
          <a:p>
            <a:r>
              <a:t>Numbers on this slide (value [tier] - source / row):</a:t>
            </a:r>
          </a:p>
          <a:p>
            <a:r>
              <a:t>- Free cash flow FY2023: $375m [D] - extraction/segments_kpi.csv [line_item=Free cash flow; fiscal_period=FY2023; page=361]</a:t>
            </a:r>
          </a:p>
          <a:p>
            <a:r>
              <a:t>- Free cash flow FY2024: $412m [D] - extraction/segments_kpi.csv [line_item=Free cash flow; fiscal_period=FY2024; page=361]</a:t>
            </a:r>
          </a:p>
          <a:p>
            <a:r>
              <a:t>- Free cash flow FY2025: $461m [D] - extraction/segments_kpi.csv [line_item=Free cash flow; fiscal_period=FY2025; page=361]</a:t>
            </a:r>
          </a:p>
          <a:p>
            <a:r>
              <a:t>- Free cash flow 6M-2025: $225m [D] - extraction/segments_kpi.csv [line_item=Free cash flow; fiscal_period=6M-2025; page=26]</a:t>
            </a:r>
          </a:p>
          <a:p>
            <a:r>
              <a:t>- Free cash flow 6M-2026: $177m [D] - extraction/segments_kpi.csv [line_item=Free cash flow; fiscal_period=6M-2026; page=26]</a:t>
            </a:r>
          </a:p>
          <a:p>
            <a:r>
              <a:t>- FCF conversion FY2023: 62.7% [C] - computed: fcf_FY2023/ae_FY2023*100 (FCF / Adj. EBITDA)</a:t>
            </a:r>
          </a:p>
          <a:p>
            <a:r>
              <a:t>- FCF conversion FY2024: 62.6% [C] - computed: fcf_FY2024/ae_FY2024*100 (FCF / Adj. EBITDA)</a:t>
            </a:r>
          </a:p>
          <a:p>
            <a:r>
              <a:t>- FCF conversion FY2025: 64.8% [C] - computed: fcf_FY2025/ae_FY2025*100 (FCF / Adj. EBITDA)</a:t>
            </a:r>
          </a:p>
          <a:p>
            <a:r>
              <a:t>- FCF conversion 6M-2025: 63.0% [C] - computed: fcf_6M-2025/ae_6M-2025*100 (FCF / Adj. EBITDA)</a:t>
            </a:r>
          </a:p>
          <a:p>
            <a:r>
              <a:t>- FCF conversion 6M-2026: 45.9% [C] - computed: fcf_6M-2026/ae_6M-2026*100 (FCF / Adj. EBITDA)</a:t>
            </a:r>
          </a:p>
          <a:p>
            <a:r>
              <a:t>- FCF conversion FY23 (deck): 63% [D] - extraction/presentations.csv [page=111; line_item_contains=Free cash flow % Conversion; fiscal_period=FY2023]</a:t>
            </a:r>
          </a:p>
          <a:p>
            <a:r>
              <a:t>- FCF conversion FY24 (deck): 63% [D] - extraction/presentations.csv [page=111; line_item_contains=Free cash flow % Conversion; fiscal_period=FY2024]</a:t>
            </a:r>
          </a:p>
          <a:p>
            <a:r>
              <a:t>- FCF conversion FY25 (deck): 65% [D] - extraction/presentations.csv [page=111; line_item_contains=Free cash flow % Conversion; fiscal_period=FY2025]</a:t>
            </a:r>
          </a:p>
          <a:p>
            <a:r>
              <a:t>- Cash from operations FY2023: $393m [D] - canonical/primary.csv [canon_key=CF.cfo; period=FY2023]</a:t>
            </a:r>
          </a:p>
          <a:p>
            <a:r>
              <a:t>- Cash from operations FY2024: $427m [D] - canonical/primary.csv [canon_key=CF.cfo; period=FY2024]</a:t>
            </a:r>
          </a:p>
          <a:p>
            <a:r>
              <a:t>- Cash from operations FY2025: $485m [D] - canonical/primary.csv [canon_key=CF.cfo; period=FY2025]</a:t>
            </a:r>
          </a:p>
          <a:p>
            <a:r>
              <a:t>- Cash from operations 6M-2026: $189m [D] - canonical/primary.csv [canon_key=CF.cfo; period=6M-2026]</a:t>
            </a:r>
          </a:p>
          <a:p>
            <a:r>
              <a:t>- Capex FY2023: $-18m [D] - canonical/primary.csv [canon_key=CF.capex; period=FY2023]</a:t>
            </a:r>
          </a:p>
          <a:p>
            <a:r>
              <a:t>- Capex FY2024: $-15m [D] - canonical/primary.csv [canon_key=CF.capex; period=FY2024]</a:t>
            </a:r>
          </a:p>
          <a:p>
            <a:r>
              <a:t>- Capex FY2025: $-24m [D] - canonical/primary.csv [canon_key=CF.capex; period=FY2025]</a:t>
            </a:r>
          </a:p>
          <a:p>
            <a:r>
              <a:t>- Capex 6M-2026: $-12m [D] - canonical/primary.csv [canon_key=CF.capex; period=6M-2026]</a:t>
            </a:r>
          </a:p>
          <a:p>
            <a:r>
              <a:t>- Capex / revenue FY2023: 1.2% [C] - computed: -capex_FY2023/rev_FY2023*100</a:t>
            </a:r>
          </a:p>
          <a:p>
            <a:r>
              <a:t>- Capex / revenue FY2024: 0.9% [C] - computed: -capex_FY2024/rev_FY2024*100</a:t>
            </a:r>
          </a:p>
          <a:p>
            <a:r>
              <a:t>- Capex / revenue FY2025: 1.4% [C] - computed: -capex_FY2025/rev_FY2025*100</a:t>
            </a:r>
          </a:p>
          <a:p>
            <a:r>
              <a:t>- Capex / revenue 6M-2026: 1.3% [C] - computed: -capex_6M-2026/rev_6M-2026*100</a:t>
            </a:r>
          </a:p>
          <a:p>
            <a:r>
              <a:t>- FCF margin FY2023: 25.3% [C] - computed: fcf_FY2023/rev_FY2023*100</a:t>
            </a:r>
          </a:p>
          <a:p>
            <a:r>
              <a:t>- FCF margin FY2025: 26.3% [C] - computed: fcf_FY2025/rev_FY2025*100</a:t>
            </a:r>
          </a:p>
          <a:p>
            <a:r>
              <a:t>- Standalone FCF estimate: 365 [C] - analysis/D3_group_decomposition.md [section=section 5; evidence=~$365m]</a:t>
            </a:r>
          </a:p>
          <a:p>
            <a:r>
              <a:t>- Run-rate interest: 110 [C] - analysis/D3_group_decomposition.md [section=section 4 (A4); evidence=Run-rate interest (A4) | (110)]</a:t>
            </a:r>
          </a:p>
          <a:p>
            <a:r>
              <a:t>- One-time spin costs (~): $100m [D] - extraction/segments_kpi.csv [line_item=One-time spin-related costs total (~); fiscal_period=FY2026E]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$2.0bn of notes lift interest from $13m to ~$110m a year: earnings power changes, cash cover does not</a:t>
            </a:r>
          </a:p>
          <a:p>
            <a:r>
              <a:t>Sources: extraction/notes.csv (10A p.337); canonical/primary.csv (BS.cash, BS.ltd, IS.int); analysis/D3_group_decomposition.md §3; transcripts/TARGETS_TIMELINE.md; analysis/QUALITATIVE.md §9</a:t>
            </a:r>
          </a:p>
          <a:p>
            <a:r>
              <a:t>Numbers on this slide (value [tier] - source / row):</a:t>
            </a:r>
          </a:p>
          <a:p>
            <a:r>
              <a:t>- 5.050% notes due 2029 principal: $650m [D] - extraction/notes.csv [line_item=5.050% senior notes due 2029 - principal; fiscal_period=Q1-2026]</a:t>
            </a:r>
          </a:p>
          <a:p>
            <a:r>
              <a:t>- 5.450% notes due 2031 principal: $650m [D] - extraction/notes.csv [line_item=5.450% senior notes due 2031 - principal; fiscal_period=Q1-2026]</a:t>
            </a:r>
          </a:p>
          <a:p>
            <a:r>
              <a:t>- 6.050% notes due 2036 principal: $700m [D] - extraction/notes.csv [line_item=6.050% senior notes due 2036 - principal; fiscal_period=Q1-2026]</a:t>
            </a:r>
          </a:p>
          <a:p>
            <a:r>
              <a:t>- 2029 coupon: 5.05% [D] - extraction/notes.csv [line_item=5.050% senior notes due 2029 - coupon; fiscal_period=Q1-2026]</a:t>
            </a:r>
          </a:p>
          <a:p>
            <a:r>
              <a:t>- 2031 coupon: 5.45% [D] - extraction/notes.csv [line_item=5.450% senior notes due 2031 - coupon; fiscal_period=Q1-2026]</a:t>
            </a:r>
          </a:p>
          <a:p>
            <a:r>
              <a:t>- 2036 coupon: 6.05% [D] - extraction/notes.csv [line_item=6.050% senior notes due 2036 - coupon; fiscal_period=Q1-2026]</a:t>
            </a:r>
          </a:p>
          <a:p>
            <a:r>
              <a:t>- Senior notes aggregate principal: $2,000m [D] - extraction/notes.csv [line_item=senior notes aggregate principal amount; fiscal_period=Q1-2026]</a:t>
            </a:r>
          </a:p>
          <a:p>
            <a:r>
              <a:t>- Annual cash coupon on notes: $110.6m [C] - computed: n29*n29c/100+n31*n31c/100+n36*n36c/100</a:t>
            </a:r>
          </a:p>
          <a:p>
            <a:r>
              <a:t>- Weighted coupon: 5.53% [C] - computed: c_coupon/n_total*100</a:t>
            </a:r>
          </a:p>
          <a:p>
            <a:r>
              <a:t>- Gross leverage at spin: 2.7 [IR] - transcripts/TARGETS_TIMELINE.md [section=Leverage row; evidence=Gross 2.7x, net 2.4x]</a:t>
            </a:r>
          </a:p>
          <a:p>
            <a:r>
              <a:t>- Net leverage: 2.4 [IR] - transcripts/TARGETS_TIMELINE.md [section=Leverage row; evidence=net 2.4x]</a:t>
            </a:r>
          </a:p>
          <a:p>
            <a:r>
              <a:t>- Cash at 6/30/26: $186m [D] - canonical/primary.csv [canon_key=BS.cash; period=Q2-2026]</a:t>
            </a:r>
          </a:p>
          <a:p>
            <a:r>
              <a:t>- Long-term debt (carrying) at 6/30/26: $1,981m [D] - canonical/primary.csv [canon_key=BS.ltd; period=Q2-2026]</a:t>
            </a:r>
          </a:p>
          <a:p>
            <a:r>
              <a:t>- Interest expense, net FY25: $13m [D] - canonical/primary.csv [canon_key=IS.int; period=FY2025]</a:t>
            </a:r>
          </a:p>
          <a:p>
            <a:r>
              <a:t>- Operating profit FY2025: $339m [D] - canonical/primary.csv [canon_key=IS.op; period=FY2025]</a:t>
            </a:r>
          </a:p>
          <a:p>
            <a:r>
              <a:t>- Interest / carve-out OP: 3.8% [C] - computed: int_FY2025/op_FY2025*100</a:t>
            </a:r>
          </a:p>
          <a:p>
            <a:r>
              <a:t>- Interest / standalone normalized OP: 31.2% [C] - computed: b_interest/b_norm_op*100</a:t>
            </a:r>
          </a:p>
          <a:p>
            <a:r>
              <a:t>- Standalone normalized OP: $353m [C] - computed: b_op+b_onetime-b_standalone</a:t>
            </a:r>
          </a:p>
          <a:p>
            <a:r>
              <a:t>- Run-rate interest: 110 [C] - analysis/D3_group_decomposition.md [section=section 4 (A4); evidence=Run-rate interest (A4) | (110)]</a:t>
            </a:r>
          </a:p>
          <a:p>
            <a:r>
              <a:t>- Gross leverage LTM Q1-26 (deck): 2.8 [D] - extraction/presentations.csv [page=115; line_item_contains=Gross Leverage Ratio; fiscal_period=LTM-Q1-2026]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Six interlocking moat elements; the decades-deep archive is the one a rival cannot buy</a:t>
            </a:r>
          </a:p>
          <a:p>
            <a:r>
              <a:t>Sources: analysis/D1_moat.md §2, §6; extraction/segments_kpi.csv (10A p.262-272); extraction/predecessor.csv (INFO 10-K FY16/18/19/21 data scale); extraction/presentations.csv (ID s.18, s.66, s.67); transcripts/MBGL_2026-08-07_q2-2026-earnings-call.md</a:t>
            </a:r>
          </a:p>
          <a:p>
            <a:r>
              <a:t>Numbers on this slide (value [tier] - source / row):</a:t>
            </a:r>
          </a:p>
          <a:p>
            <a:r>
              <a:t>- Contributory network sources (more than): 177,000 [D] - extraction/segments_kpi.csv [line_item=Contributory network sources (more than); fiscal_period=FY2025]</a:t>
            </a:r>
          </a:p>
          <a:p>
            <a:r>
              <a:t>- Records added daily (approx.): 6,000,000 [D] - extraction/segments_kpi.csv [line_item=Average records added daily (approximately); fiscal_period=FY2025]</a:t>
            </a:r>
          </a:p>
          <a:p>
            <a:r>
              <a:t>- Dealers and service shops in data network (more than): 92,000 [D] - extraction/segments_kpi.csv [line_item=CARFAX dealers and service shops in data network (more than); fiscal_period=FY2025]</a:t>
            </a:r>
          </a:p>
          <a:p>
            <a:r>
              <a:t>- Police agencies: 6,300 [D] - extraction/segments_kpi.csv [line_item=Police agencies (data partnerships); fiscal_period=FY2025]</a:t>
            </a:r>
          </a:p>
          <a:p>
            <a:r>
              <a:t>- OEMs (data partnerships): 36 [D] - extraction/segments_kpi.csv [line_item=OEMs (data partnerships); fiscal_period=FY2025]</a:t>
            </a:r>
          </a:p>
          <a:p>
            <a:r>
              <a:t>- CARFAX vehicle history records (more than): 38,000,000,000 [D] - extraction/segments_kpi.csv [line_item=CARFAX vehicle history records (more than); fiscal_period=FY2025]</a:t>
            </a:r>
          </a:p>
          <a:p>
            <a:r>
              <a:t>- In-market awareness: 96% [D] - extraction/segments_kpi.csv [line_item=CARFAX average in-market awareness (survey of in-market consumers); fiscal_period=FY2025]</a:t>
            </a:r>
          </a:p>
          <a:p>
            <a:r>
              <a:t>- 'Show me the CARFAX' per month: 2,000,000 [D] - extraction/presentations.csv [page=67; line_item_contains=Number of times per month consumers walk; fiscal_period=2024]</a:t>
            </a:r>
          </a:p>
          <a:p>
            <a:r>
              <a:t>- Media investment since 2000: $1,500m [D] - extraction/presentations.csv [page=18; line_item_contains=Media Investment Since 2000; fiscal_period=2000-2025]</a:t>
            </a:r>
          </a:p>
          <a:p>
            <a:r>
              <a:t>- OEM CPO programs: 36 [D] - extraction/segments_kpi.csv [line_item=OEM Certified Pre-Owned programs (data sources); fiscal_period=FY2025]</a:t>
            </a:r>
          </a:p>
          <a:p>
            <a:r>
              <a:t>- Top-40 carmakers served: 100% [D] - extraction/segments_kpi.csv [line_item=Share of top 40 global carmakers served; fiscal_period=FY2025]</a:t>
            </a:r>
          </a:p>
          <a:p>
            <a:r>
              <a:t>- Dealer integrations: 95 [D] - extraction/presentations.csv [page=66; line_item_contains=Dealer : Integrations; fiscal_period=2026]</a:t>
            </a:r>
          </a:p>
          <a:p>
            <a:r>
              <a:t>- Top-20 banks/insurers using data: 17 [D] - extraction/segments_kpi.csv [line_item=Top 20 banks and insurers using data (printed 17 of the top 20); fiscal_period=FY2025]</a:t>
            </a:r>
          </a:p>
          <a:p>
            <a:r>
              <a:t>- Dealerships using Market Scan: 10,500 [D] - extraction/segments_kpi.csv [line_item=Dealerships using Market Scan pricing engine (approximately); fiscal_period=FY2025]</a:t>
            </a:r>
          </a:p>
          <a:p>
            <a:r>
              <a:t>- Transaction records (more than): 13,000,000,000 [D] - extraction/segments_kpi.csv [line_item=Transaction records (more than); fiscal_period=FY2025]</a:t>
            </a:r>
          </a:p>
          <a:p>
            <a:r>
              <a:t>- CARFAX VH records FY2016 (bn): 17.0 [D] - extraction/predecessor.csv [line_item=CARFAX data scale (printed); fiscal_period=FY2016; text_contains=17 billion records]</a:t>
            </a:r>
          </a:p>
          <a:p>
            <a:r>
              <a:t>- CARFAX VH records FY2018 (bn): 20.0 [D] - extraction/predecessor.csv [line_item=CARFAX data scale (printed); fiscal_period=FY2018; text_contains=20 billion records]</a:t>
            </a:r>
          </a:p>
          <a:p>
            <a:r>
              <a:t>- CARFAX VH records FY2019 (bn): 23.0 [D] - extraction/predecessor.csv [line_item=CARFAX data scale (printed); fiscal_period=FY2019; text_contains=23 billion records]</a:t>
            </a:r>
          </a:p>
          <a:p>
            <a:r>
              <a:t>- CARFAX VH records FY2021 (bn): 27.0 [D] - extraction/predecessor.csv [line_item=CARFAX data scale (printed); fiscal_period=FY2021; text_contains=27 billion records]</a:t>
            </a:r>
          </a:p>
          <a:p>
            <a:r>
              <a:t>- VH records CAGR FY16-25: 9.3% [C] - computed: ((k_records/1e9/rec_FY2016)(1/9)-1)*100</a:t>
            </a:r>
          </a:p>
          <a:p>
            <a:r>
              <a:t>- Sources CAGR FY16-25: 6.5% [C] - computed: ((k_sources/src_FY2016)(1/9)-1)*100</a:t>
            </a:r>
          </a:p>
          <a:p>
            <a:r>
              <a:t>- CARFAX sources FY16: 100,000 [D] - extraction/predecessor.csv [line_item=CARFAX data scale (printed); fiscal_period=FY2016; text_contains=100,000 data sources]</a:t>
            </a:r>
          </a:p>
          <a:p>
            <a:r>
              <a:t>- Ad expense growth FY23-25: 31.3% [C] - computed: (ad_FY2025/ad_FY2023-1)*100</a:t>
            </a:r>
          </a:p>
          <a:p>
            <a:r>
              <a:t>- Revenue growth FY23-25: 17.8% [C] - computed: (rev_FY2025/rev_FY2023-1)*100</a:t>
            </a:r>
          </a:p>
          <a:p>
            <a:r>
              <a:t>- Advertising expense FY23: 134 [D] - analysis/QUALITATIVE.md [section=section 1 CARFAX (10A p.450); evidence=$134m in FY23]</a:t>
            </a:r>
          </a:p>
          <a:p>
            <a:r>
              <a:t>- Advertising expense FY25: 176 [D] - analysis/QUALITATIVE.md [section=section 1 CARFAX (10A p.450); evidence=$176m in FY25]</a:t>
            </a:r>
          </a:p>
          <a:p>
            <a:r>
              <a:t>Quote: "some of that data that's seven years old, 12 years old, 15 years old just doesn't exist anymore anywhere else." - Bill Eager (CEO), Q2-26 call, 2026-08-07 (transcripts/MBGL_2026-08-07_q2-2026-earnings-call.md)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One VIN-level record, fed by 177k contributors and monetized four ways</a:t>
            </a:r>
          </a:p>
          <a:p>
            <a:r>
              <a:t>Sources: extraction/segments_kpi.csv (10A p.262-272, 340, 349); analysis/QUALITATIVE.md §1-4; analysis/D1_moat.md §2; transcripts/MBGL_2026-05-12_investor-day.md</a:t>
            </a:r>
          </a:p>
          <a:p>
            <a:r>
              <a:t>Numbers on this slide (value [tier] - source / row):</a:t>
            </a:r>
          </a:p>
          <a:p>
            <a:r>
              <a:t>- Dealers and service shops in data network (more than): 92,000 [D] - extraction/segments_kpi.csv [line_item=CARFAX dealers and service shops in data network (more than); fiscal_period=FY2025]</a:t>
            </a:r>
          </a:p>
          <a:p>
            <a:r>
              <a:t>- Police agencies: 6,300 [D] - extraction/segments_kpi.csv [line_item=Police agencies (data partnerships); fiscal_period=FY2025]</a:t>
            </a:r>
          </a:p>
          <a:p>
            <a:r>
              <a:t>- OEMs (data partnerships): 36 [D] - extraction/segments_kpi.csv [line_item=OEMs (data partnerships); fiscal_period=FY2025]</a:t>
            </a:r>
          </a:p>
          <a:p>
            <a:r>
              <a:t>- Contributory network sources (more than): 177,000 [D] - extraction/segments_kpi.csv [line_item=Contributory network sources (more than); fiscal_period=FY2025]</a:t>
            </a:r>
          </a:p>
          <a:p>
            <a:r>
              <a:t>- CARFAX vehicle history records (more than): 38,000,000,000 [D] - extraction/segments_kpi.csv [line_item=CARFAX vehicle history records (more than); fiscal_period=FY2025]</a:t>
            </a:r>
          </a:p>
          <a:p>
            <a:r>
              <a:t>- Transaction records (more than): 13,000,000,000 [D] - extraction/segments_kpi.csv [line_item=Transaction records (more than); fiscal_period=FY2025]</a:t>
            </a:r>
          </a:p>
          <a:p>
            <a:r>
              <a:t>- Unique VINs tracked (approx.): 832,000,000 [D] - extraction/segments_kpi.csv [line_item=Unique VINs tracked (approximately); fiscal_period=FY2025]</a:t>
            </a:r>
          </a:p>
          <a:p>
            <a:r>
              <a:t>- Data attributes per vehicle: 2,000 [D] - extraction/segments_kpi.csv [line_item=Data attributes per vehicle (more than); fiscal_period=FY2025]</a:t>
            </a:r>
          </a:p>
          <a:p>
            <a:r>
              <a:t>- Records added daily (approx.): 6,000,000 [D] - extraction/segments_kpi.csv [line_item=Average records added daily (approximately); fiscal_period=FY2025]</a:t>
            </a:r>
          </a:p>
          <a:p>
            <a:r>
              <a:t>- CARFAX dealer customers (over): 40,000 [D] - extraction/segments_kpi.csv [line_item=CARFAX dealer customers (over); fiscal_period=FY2025]</a:t>
            </a:r>
          </a:p>
          <a:p>
            <a:r>
              <a:t>- Monthly unique visitors (US): 23,000,000 [D] - extraction/segments_kpi.csv [line_item=Monthly average unique visitors to CARFAX U.S. website and apps (approximately); fiscal_period=FY2025]</a:t>
            </a:r>
          </a:p>
          <a:p>
            <a:r>
              <a:t>- Monthly VHR views: 28,000,000 [D] - extraction/segments_kpi.csv [line_item=Monthly average CARFAX vehicle history report views (more than); fiscal_period=FY2025]</a:t>
            </a:r>
          </a:p>
          <a:p>
            <a:r>
              <a:t>- Top-40 carmakers served: 100% [D] - extraction/segments_kpi.csv [line_item=Share of top 40 global carmakers served; fiscal_period=FY2025]</a:t>
            </a:r>
          </a:p>
          <a:p>
            <a:r>
              <a:t>- Top-20 banks/insurers using data: 17 [D] - extraction/segments_kpi.csv [line_item=Top 20 banks and insurers using data (printed 17 of the top 20); fiscal_period=FY2025]</a:t>
            </a:r>
          </a:p>
          <a:p>
            <a:r>
              <a:t>- Underwriting volumes contribution FY25: $13m [D] - extraction/segments_kpi.csv [line_item=Subscription revenue increase from solid underwriting volumes; fiscal_period=FY2025]</a:t>
            </a:r>
          </a:p>
          <a:p>
            <a:r>
              <a:t>- Car Care consumers: 53,000,000 [D] - extraction/segments_kpi.csv [line_item=Car Care consumer audience (more than); fiscal_period=FY2025]</a:t>
            </a:r>
          </a:p>
          <a:p>
            <a:r>
              <a:t>Quote: "Every one of those 177,000 sources are contractual relationships that are slow to replicate." - Jeremy Morehouse (Head of AI Office), Investor Day, 2026-05-12 (transcripts/MBGL_2026-05-12_investor-day.md)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The consumer creates the pricing power; the dealer, OEM and lender pay for it</a:t>
            </a:r>
          </a:p>
          <a:p>
            <a:r>
              <a:t>Sources: analysis/D6_value_prop.md §1; extraction/segments_kpi.csv (10A p.263-272, 349); extraction/presentations.csv (ID s.10, s.68); analysis/K_session_tables.md (D6)</a:t>
            </a:r>
          </a:p>
          <a:p>
            <a:r>
              <a:t>Numbers on this slide (value [tier] - source / row):</a:t>
            </a:r>
          </a:p>
          <a:p>
            <a:r>
              <a:t>- CARFAX dealer customers (over): 40,000 [D] - extraction/segments_kpi.csv [line_item=CARFAX dealer customers (over); fiscal_period=FY2025]</a:t>
            </a:r>
          </a:p>
          <a:p>
            <a:r>
              <a:t>- Revenue by customer type: Dealer (deck): 62% [D] - extraction/presentations.csv [page=10; line_item_contains=Dealer ( B2B &amp; CARFAX ); fiscal_period=FY2025]</a:t>
            </a:r>
          </a:p>
          <a:p>
            <a:r>
              <a:t>- Revenue by customer type: OEM &amp; Supplier (deck): 20% [D] - extraction/presentations.csv [page=10; line_item_contains=OEM &amp; Supplier; fiscal_period=FY2025]</a:t>
            </a:r>
          </a:p>
          <a:p>
            <a:r>
              <a:t>- Revenue by customer type: Financial/Consumer/Other (deck): 18% [D] - extraction/presentations.csv [page=10; line_item_contains=Financial / Consumer / Other; fiscal_period=FY2025]</a:t>
            </a:r>
          </a:p>
          <a:p>
            <a:r>
              <a:t>- Dealerships using Market Scan: 10,500 [D] - extraction/segments_kpi.csv [line_item=Dealerships using Market Scan pricing engine (approximately); fiscal_period=FY2025]</a:t>
            </a:r>
          </a:p>
          <a:p>
            <a:r>
              <a:t>- Top-40 carmakers served: 100% [D] - extraction/segments_kpi.csv [line_item=Share of top 40 global carmakers served; fiscal_period=FY2025]</a:t>
            </a:r>
          </a:p>
          <a:p>
            <a:r>
              <a:t>- Top-100 suppliers served: 94% [D] - extraction/segments_kpi.csv [line_item=Share of top 100 automotive suppliers served; fiscal_period=FY2025]</a:t>
            </a:r>
          </a:p>
          <a:p>
            <a:r>
              <a:t>- Top-20 banks/insurers using data: 17 [D] - extraction/segments_kpi.csv [line_item=Top 20 banks and insurers using data (printed 17 of the top 20); fiscal_period=FY2025]</a:t>
            </a:r>
          </a:p>
          <a:p>
            <a:r>
              <a:t>- Underwriting volumes contribution FY24: $17m [D] - extraction/segments_kpi.csv [line_item=Subscription revenue increase from solid underwriting volumes; fiscal_period=FY2024]</a:t>
            </a:r>
          </a:p>
          <a:p>
            <a:r>
              <a:t>- Underwriting volumes contribution FY25: $13m [D] - extraction/segments_kpi.csv [line_item=Subscription revenue increase from solid underwriting volumes; fiscal_period=FY2025]</a:t>
            </a:r>
          </a:p>
          <a:p>
            <a:r>
              <a:t>- In-market awareness: 96% [D] - extraction/segments_kpi.csv [line_item=CARFAX average in-market awareness (survey of in-market consumers); fiscal_period=FY2025]</a:t>
            </a:r>
          </a:p>
          <a:p>
            <a:r>
              <a:t>- Car Care consumers: 53,000,000 [D] - extraction/segments_kpi.csv [line_item=Car Care consumer audience (more than); fiscal_period=FY2025]</a:t>
            </a:r>
          </a:p>
          <a:p>
            <a:r>
              <a:t>- Monthly unique visitors (US): 23,000,000 [D] - extraction/segments_kpi.csv [line_item=Monthly average unique visitors to CARFAX U.S. website and apps (approximately); fiscal_period=FY2025]</a:t>
            </a:r>
          </a:p>
          <a:p>
            <a:r>
              <a:t>- OEM CPO programs: 36 [D] - extraction/segments_kpi.csv [line_item=OEM Certified Pre-Owned programs (data sources); fiscal_period=FY2025]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Segment margins and flow-through are disclosed; price per rooftop, retention and churn are not</a:t>
            </a:r>
          </a:p>
          <a:p>
            <a:r>
              <a:t>Sources: extraction/segments_kpi.csv (10A p.359-360; 10Q p.10, 14); extraction/presentations.csv (ID s.57); analysis/D2_unit_economics.md (a), (c), (d); analysis/K_session_tables.md (D2)</a:t>
            </a:r>
          </a:p>
          <a:p>
            <a:r>
              <a:t>Numbers on this slide (value [tier] - source / row):</a:t>
            </a:r>
          </a:p>
          <a:p>
            <a:r>
              <a:t>- CARFAX flow-through FY24: 48.6% [C] - computed: (carfax_ae_FY2024-carfax_ae_FY2023)/(carfax_rev_FY2024-carfax_rev_FY2023)*100</a:t>
            </a:r>
          </a:p>
          <a:p>
            <a:r>
              <a:t>- CARFAX flow-through FY25: 58.3% [C] - computed: (carfax_ae_FY2025-carfax_ae_FY2024)/(carfax_rev_FY2025-carfax_rev_FY2024)*100</a:t>
            </a:r>
          </a:p>
          <a:p>
            <a:r>
              <a:t>- CARFAX flow-through 6M-26: 45.7% [C] - computed: (carfax_ae_6M-2026-carfax_ae_6M-2025)/(carfax_rev_6M-2026-carfax_rev_6M-2025)*100</a:t>
            </a:r>
          </a:p>
          <a:p>
            <a:r>
              <a:t>- B2B flow-through FY24: 70.6% [C] - computed: (b2b_ae_FY2024-b2b_ae_FY2023)/(b2b_rev_FY2024-b2b_rev_FY2023)*100</a:t>
            </a:r>
          </a:p>
          <a:p>
            <a:r>
              <a:t>- B2B flow-through FY25: -17.6% [C] - computed: (b2b_ae_FY2025-b2b_ae_FY2024)/(b2b_rev_FY2025-b2b_rev_FY2024)*100</a:t>
            </a:r>
          </a:p>
          <a:p>
            <a:r>
              <a:t>- B2B flow-through 6M-26: 50.0% [C] - computed: (b2b_ae_6M-2026-b2b_ae_6M-2025)/(b2b_rev_6M-2026-b2b_rev_6M-2025)*100</a:t>
            </a:r>
          </a:p>
          <a:p>
            <a:r>
              <a:t>- Advantage + Listings per dealer customer ($k/yr): 17.1 [C] - computed: c_adv_list/k_dealers*1000</a:t>
            </a:r>
          </a:p>
          <a:p>
            <a:r>
              <a:t>- Advantage per dealer customer ($k/yr): 10.8 [C] - computed: pp_adv/100*carfax_rev_FY2025/k_dealers*1000</a:t>
            </a:r>
          </a:p>
          <a:p>
            <a:r>
              <a:t>- CARFAX revenue per dealer customer, upper bound ($k/yr): 28.6 [C] - computed: carfax_rev_FY2025/k_dealers*1000</a:t>
            </a:r>
          </a:p>
          <a:p>
            <a:r>
              <a:t>- Advantage + Listings revenue FY25: $685.2m [C] - computed: (pp_adv+pp_list)/100*carfax_rev_FY2025</a:t>
            </a:r>
          </a:p>
          <a:p>
            <a:r>
              <a:t>- CARFAX dealer customers (over): 40,000 [D] - extraction/segments_kpi.csv [line_item=CARFAX dealer customers (over); fiscal_period=FY2025]</a:t>
            </a:r>
          </a:p>
          <a:p>
            <a:r>
              <a:t>- RPO 6/30/26: $102m [D] - extraction/segments_kpi.csv [line_item=Remaining performance obligations (aggregate transaction price); fiscal_period=6M-2026]</a:t>
            </a:r>
          </a:p>
          <a:p>
            <a:r>
              <a:t>- Subscription revenue FY25: $1,426m [D] - extraction/segments_kpi.csv [line_item=Total: Subscription; fiscal_period=FY2025]</a:t>
            </a:r>
          </a:p>
          <a:p>
            <a:r>
              <a:t>- Capex / revenue FY2024: 0.9% [C] - computed: -capex_FY2024/rev_FY2024*100</a:t>
            </a:r>
          </a:p>
          <a:p>
            <a:r>
              <a:t>- Capex / revenue FY2025: 1.4% [C] - computed: -capex_FY2025/rev_FY2025*100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Standalone normalized NI is ~$171m (~$0.58/share), not $220m, so the "25%" payout is really ~34-44%</a:t>
            </a:r>
          </a:p>
          <a:p>
            <a:r>
              <a:t>Sources: analysis/D3_group_decomposition.md §1, §4, §5; canonical/primary.csv (IS.ni, IS.tax, IS.int, IS.eps_d); extraction/segments_kpi.csv (10A p.359; 10Q p.14)</a:t>
            </a:r>
          </a:p>
          <a:p>
            <a:r>
              <a:t>Numbers on this slide (value [tier] - source / row):</a:t>
            </a:r>
          </a:p>
          <a:p>
            <a:r>
              <a:t>- Net income FY2025: $220m [D] - canonical/primary.csv [canon_key=IS.ni; period=FY2025]</a:t>
            </a:r>
          </a:p>
          <a:p>
            <a:r>
              <a:t>- Tax provision FY25: $106m [D] - canonical/primary.csv [canon_key=IS.tax; period=FY2025]</a:t>
            </a:r>
          </a:p>
          <a:p>
            <a:r>
              <a:t>- Interest expense, net FY25: $13m [D] - canonical/primary.csv [canon_key=IS.int; period=FY2025]</a:t>
            </a:r>
          </a:p>
          <a:p>
            <a:r>
              <a:t>- Tax + net interest add-back: $119m [C] - computed: tax_FY2025+int_FY2025</a:t>
            </a:r>
          </a:p>
          <a:p>
            <a:r>
              <a:t>- Operating profit (bridge): $339m [C] - computed: ni_FY2025+tax_FY2025+int_FY2025</a:t>
            </a:r>
          </a:p>
          <a:p>
            <a:r>
              <a:t>- One-time items added back: 40 [D] - analysis/D3_group_decomposition.md [section=section 4 (A1); evidence=One-time items (A1) | 40]</a:t>
            </a:r>
          </a:p>
          <a:p>
            <a:r>
              <a:t>- Standalone increment (150bp x FY25 revenue): 26 [C] - analysis/D3_group_decomposition.md [section=section 4 (A2); evidence=Standalone increment (A2) | (26)]</a:t>
            </a:r>
          </a:p>
          <a:p>
            <a:r>
              <a:t>- Standalone normalized OP: $353m [C] - computed: b_op+b_onetime-b_standalone</a:t>
            </a:r>
          </a:p>
          <a:p>
            <a:r>
              <a:t>- Run-rate interest: 110 [C] - analysis/D3_group_decomposition.md [section=section 4 (A4); evidence=Run-rate interest (A4) | (110)]</a:t>
            </a:r>
          </a:p>
          <a:p>
            <a:r>
              <a:t>- Standalone pre-tax: $243m [C] - computed: b_norm_op-b_interest</a:t>
            </a:r>
          </a:p>
          <a:p>
            <a:r>
              <a:t>- Tax @ 29.5%: 72 [E] - analysis/D3_group_decomposition.md [section=section 4 (A5); evidence=Tax @ 29.5% (A5) | (72)]</a:t>
            </a:r>
          </a:p>
          <a:p>
            <a:r>
              <a:t>- Standalone normalized NI FY25 base: $171m [C] - computed: b_pretax-b_tax</a:t>
            </a:r>
          </a:p>
          <a:p>
            <a:r>
              <a:t>- Standalone normalized NI FY26 run-rate: 209 [C] - analysis/D3_group_decomposition.md [section=section 4 FY26 run-rate variant; evidence=NI ≈ 209]</a:t>
            </a:r>
          </a:p>
          <a:p>
            <a:r>
              <a:t>- Shares outstanding (m): 294.82132 [D] - analysis/D3_group_decomposition.md [section=section 5 (10Q p.11); evidence=294,821,320]</a:t>
            </a:r>
          </a:p>
          <a:p>
            <a:r>
              <a:t>- Standalone normalized EPS FY25 base: $0.58 [C] - computed: b_ni/shares</a:t>
            </a:r>
          </a:p>
          <a:p>
            <a:r>
              <a:t>- Standalone normalized EPS FY26 run-rate: $0.71 [C] - computed: b_ni_fy26/shares</a:t>
            </a:r>
          </a:p>
          <a:p>
            <a:r>
              <a:t>- Illustrative carve-out EPS FY25: $0.75 [C] - computed: ni_FY2025/shares</a:t>
            </a:r>
          </a:p>
          <a:p>
            <a:r>
              <a:t>- Diluted EPS 6M-26 (10-Q): $0.37 [D] - canonical/primary.csv [canon_key=IS.eps_d; period=6M-2026]</a:t>
            </a:r>
          </a:p>
          <a:p>
            <a:r>
              <a:t>- Net income 6M-2026: $108m [D] - canonical/primary.csv [canon_key=IS.ni; period=6M-2026]</a:t>
            </a:r>
          </a:p>
          <a:p>
            <a:r>
              <a:t>- Quarterly dividend per share: $0.06 [D] - extraction/segments_kpi.csv [line_item=Quarterly cash dividend per share (initiated); fiscal_period=Q2-2026]</a:t>
            </a:r>
          </a:p>
          <a:p>
            <a:r>
              <a:t>- Annual dividend ($m): $70.8m [C] - computed: div_q*4*shares</a:t>
            </a:r>
          </a:p>
          <a:p>
            <a:r>
              <a:t>- Payout on FY25-base normalized NI: 41.4% [C] - computed: c_div/b_ni*100</a:t>
            </a:r>
          </a:p>
          <a:p>
            <a:r>
              <a:t>- Payout on FY26 run-rate NI: 33.9% [C] - computed: c_div/b_ni_fy26*100</a:t>
            </a:r>
          </a:p>
          <a:p>
            <a:r>
              <a:t>- NI needed for 25% payout: $283m [C] - computed: c_div/0.25</a:t>
            </a:r>
          </a:p>
          <a:p>
            <a:r>
              <a:t>- Standalone FCF estimate: 365 [C] - analysis/D3_group_decomposition.md [section=section 5; evidence=~$365m]</a:t>
            </a:r>
          </a:p>
          <a:p>
            <a:r>
              <a:t>- Dividend / standalone FCF: 19.4% [C] - computed: c_div/c_fcf_standalone*100</a:t>
            </a:r>
          </a:p>
          <a:p>
            <a:r>
              <a:t>- CARFAX Segment Adj. EBITDA FY2025: $536m [D] - extraction/segments_kpi.csv [line_item=CARFAX: Segment Adjusted EBITDA; fiscal_period=FY2025]</a:t>
            </a:r>
          </a:p>
          <a:p>
            <a:r>
              <a:t>- B2B Segment Adj. EBITDA FY2025: $197m [D] - extraction/segments_kpi.csv [line_item=B2B: Segment Adjusted EBITDA; fiscal_period=FY2025]</a:t>
            </a:r>
          </a:p>
          <a:p>
            <a:r>
              <a:t>- Corporate Adj. EBITDA FY25: $-22m [D] - extraction/segments_kpi.csv [line_item=Corporate: Segment Adjusted EBITDA; fiscal_period=FY2025]</a:t>
            </a:r>
          </a:p>
          <a:p>
            <a:r>
              <a:t>- Adj. EBITDA FY2025: $711m [D] - extraction/segments_kpi.csv [line_item=Adjusted EBITDA; fiscal_period=FY2025; page=358]</a:t>
            </a:r>
          </a:p>
          <a:p>
            <a:r>
              <a:t>- S&amp;P Global allocations FY25: 112 [D] - analysis/D3_group_decomposition.md [section=section 2; evidence=| 89 | 90 | 112 |]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Revenue guides were broadly met; margin targets were repeatedly missed, and the FY26 guide was cut 3 months after reaffirmation</a:t>
            </a:r>
          </a:p>
          <a:p>
            <a:r>
              <a:t>Sources: analysis/D10_guidance_vs_execution.md §1-3; analysis/D4_disclosure_changes.md §4, §7-9; transcripts/TARGETS_TIMELINE.md; extraction/segments_kpi.csv (8-K p.3 guidance)</a:t>
            </a:r>
          </a:p>
          <a:p>
            <a:r>
              <a:t>Numbers on this slide (value [tier] - source / row):</a:t>
            </a:r>
          </a:p>
          <a:p>
            <a:r>
              <a:t>- SPGI Mobility adj. OP margin FY25: 39.9% [D] - analysis/D10_guidance_vs_execution.md [section=section 1 scorecard; evidence=39.9% [D]]</a:t>
            </a:r>
          </a:p>
          <a:p>
            <a:r>
              <a:t>- SPGI 2025/26 margin target: 41-43% [D] - analysis/D10_guidance_vs_execution.md [section=section 1 scorecard; evidence=41–43% adj. OP margin]</a:t>
            </a:r>
          </a:p>
          <a:p>
            <a:r>
              <a:t>- FY26 revenue growth guide low: 6.9% [D] - extraction/segments_kpi.csv [line_item=Revenue Growth - low end; fiscal_period=FY2026E]</a:t>
            </a:r>
          </a:p>
          <a:p>
            <a:r>
              <a:t>- FY26 revenue growth guide high: 7.7% [D] - extraction/segments_kpi.csv [line_item=Revenue Growth - high end; fiscal_period=FY2026E]</a:t>
            </a:r>
          </a:p>
          <a:p>
            <a:r>
              <a:t>- 1H-26 revenue growth: 7.5% [C] - computed: (rev_6M-2026/rev_6M-2025-1)*100</a:t>
            </a:r>
          </a:p>
          <a:p>
            <a:r>
              <a:t>- 150bp of FY25 revenue: $26.3m [C] - computed: 0.015*rev_FY2025</a:t>
            </a:r>
          </a:p>
          <a:p>
            <a:r>
              <a:t>- One-time spin costs (~): $100m [D] - extraction/segments_kpi.csv [line_item=One-time spin-related costs total (~); fiscal_period=FY2026E]</a:t>
            </a:r>
          </a:p>
          <a:p>
            <a:r>
              <a:t>- Gross leverage at spin: 2.7 [IR] - transcripts/TARGETS_TIMELINE.md [section=Leverage row; evidence=Gross 2.7x, net 2.4x]</a:t>
            </a:r>
          </a:p>
          <a:p>
            <a:r>
              <a:t>- Q1-26 OCC growth (FX ~$4m): 7.4% [C] - computed: ((rev_Q1-2026-4)/rev_Q1-2025-1)*100</a:t>
            </a:r>
          </a:p>
          <a:p>
            <a:r>
              <a:t>- Implied 2H-26 margin low: 37.9% [C] - computed: (g_ae_lo-ae_6M-2026)/(g_rev_lo-rev_6M-2026)*100</a:t>
            </a:r>
          </a:p>
          <a:p>
            <a:r>
              <a:t>- Implied 2H-26 margin high: 38.9% [C] - computed: (g_ae_hi-ae_6M-2026)/(g_rev_hi-rev_6M-2026)*100</a:t>
            </a:r>
          </a:p>
          <a:p>
            <a:r>
              <a:t>- 2H-25 margin: 39.7% [C] - computed: (ae_FY2025-ae_6M-2025)/(rev_FY2025-rev_6M-2025)*100</a:t>
            </a:r>
          </a:p>
          <a:p>
            <a:r>
              <a:t>- FY26 revenue guide low: $1,870m [D] - extraction/segments_kpi.csv [line_item=Revenue - low end; fiscal_period=FY2026E]</a:t>
            </a:r>
          </a:p>
          <a:p>
            <a:r>
              <a:t>- FY26 revenue guide high: $1,885m [D] - extraction/segments_kpi.csv [line_item=Revenue - high end; fiscal_period=FY2026E]</a:t>
            </a:r>
          </a:p>
          <a:p>
            <a:r>
              <a:t>- FY26 Adj. EBITDA guide low: $745m [D] - extraction/segments_kpi.csv [line_item=Adjusted EBITDA - low end; fiscal_period=FY2026E]</a:t>
            </a:r>
          </a:p>
          <a:p>
            <a:r>
              <a:t>- FY26 Adj. EBITDA guide high: $760m [D] - extraction/segments_kpi.csv [line_item=Adjusted EBITDA - high end; fiscal_period=FY2026E]</a:t>
            </a:r>
          </a:p>
          <a:p>
            <a:r>
              <a:t>- Revenue 6M-2026: $923m [D] - canonical/primary.csv [canon_key=IS.revenue; period=6M-2026]</a:t>
            </a:r>
          </a:p>
          <a:p>
            <a:r>
              <a:t>- Adj. EBITDA 6M-2026: $386m [D] - extraction/segments_kpi.csv [line_item=Adjusted EBITDA; fiscal_period=6M-2026; page=15]</a:t>
            </a:r>
          </a:p>
          <a:p>
            <a:r>
              <a:t>Quote: "So we're probably not going to get to the full 50 basis point expansion target until 2028." - Matt Calderone (CFO), Goldman Sachs Communacopia, 2026-09-10 (transcripts/MBGL_2026-09-10_goldman-sachs-communacopia.md)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Price drove ~56% of 1H-26 revenue growth; new business faded from ~$12m in Q1 to ~$8m in Q2</a:t>
            </a:r>
          </a:p>
          <a:p>
            <a:r>
              <a:t>Sources: extraction/segments_kpi.csv (10Q p.27 revenue drivers; 10A p.347); canonical/primary.csv (IS.revenue); analysis/D7_pricing.md §1-5; analysis/D4_disclosure_changes.md §3; transcripts/MBGL_2026-05-12_investor-day.md</a:t>
            </a:r>
          </a:p>
          <a:p>
            <a:r>
              <a:t>Numbers on this slide (value [tier] - source / row):</a:t>
            </a:r>
          </a:p>
          <a:p>
            <a:r>
              <a:t>- Q1-26 implied price: $20m [C] - computed: k_price_6M-k_price_Q2</a:t>
            </a:r>
          </a:p>
          <a:p>
            <a:r>
              <a:t>- Price increases Q2-26 (approx.): $16m [D] - extraction/segments_kpi.csv [line_item=Revenue increase from price increases (approximately); fiscal_period=Q2-2026]</a:t>
            </a:r>
          </a:p>
          <a:p>
            <a:r>
              <a:t>- Price increases 6M-26 (approx.): $36m [D] - extraction/segments_kpi.csv [line_item=Revenue increase from price increases (approximately); fiscal_period=6M-2026]</a:t>
            </a:r>
          </a:p>
          <a:p>
            <a:r>
              <a:t>- Q1-26 implied new business: $12m [C] - computed: k_nbq_6M-k_nbq_Q2</a:t>
            </a:r>
          </a:p>
          <a:p>
            <a:r>
              <a:t>- New business Q2-26 (approx.): $8m [D] - extraction/segments_kpi.csv [line_item=Revenue increase from continued new business growth (approximately); fiscal_period=Q2-2026]</a:t>
            </a:r>
          </a:p>
          <a:p>
            <a:r>
              <a:t>- New business 6M-26 (approx.): $20m [D] - extraction/segments_kpi.csv [line_item=Revenue increase from continued new business growth (approximately); fiscal_period=6M-2026]</a:t>
            </a:r>
          </a:p>
          <a:p>
            <a:r>
              <a:t>- Q1-26 other: $3m [C] - computed: c_q1_drev-c_q1_price-c_q1_nb</a:t>
            </a:r>
          </a:p>
          <a:p>
            <a:r>
              <a:t>- Q2-26 other: $5m [C] - computed: c_q2_drev-k_price_Q2-k_nbq_Q2</a:t>
            </a:r>
          </a:p>
          <a:p>
            <a:r>
              <a:t>- 6M-26 other: $8m [C] - computed: c_6m_drev-k_price_6M-k_nbq_6M</a:t>
            </a:r>
          </a:p>
          <a:p>
            <a:r>
              <a:t>- Price share of 6M revenue increase: 56.3% [C] - computed: k_price_6M/c_6m_drev*100</a:t>
            </a:r>
          </a:p>
          <a:p>
            <a:r>
              <a:t>- Price points of Q1 growth: 4.8% [C] - computed: c_q1_price/rev_Q1-2025*100</a:t>
            </a:r>
          </a:p>
          <a:p>
            <a:r>
              <a:t>- Price points of Q2 growth: 3.6% [C] - computed: k_price_Q2/rev_Q2-2025*100</a:t>
            </a:r>
          </a:p>
          <a:p>
            <a:r>
              <a:t>- Price points of 6M growth: 4.2% [C] - computed: k_price_6M/rev_6M-2025*100</a:t>
            </a:r>
          </a:p>
          <a:p>
            <a:r>
              <a:t>- New business points of 6M growth: 2.3% [C] - computed: k_nbq_6M/rev_6M-2025*100</a:t>
            </a:r>
          </a:p>
          <a:p>
            <a:r>
              <a:t>- Q1-26 revenue growth: 8.3% [C] - computed: (rev_Q1-2026/rev_Q1-2025-1)*100</a:t>
            </a:r>
          </a:p>
          <a:p>
            <a:r>
              <a:t>- Q2-26 revenue growth: 6.6% [C] - computed: (rev_Q2-2026/rev_Q2-2025-1)*100</a:t>
            </a:r>
          </a:p>
          <a:p>
            <a:r>
              <a:t>- 1H-26 revenue growth: 7.5% [C] - computed: (rev_6M-2026/rev_6M-2025-1)*100</a:t>
            </a:r>
          </a:p>
          <a:p>
            <a:r>
              <a:t>- Q1-26 new business growth per 10/A: $26m [D] - extraction/segments_kpi.csv [line_item=Subscription revenue increase from continued new business growth; fiscal_period=Q1-2026]</a:t>
            </a:r>
          </a:p>
          <a:p>
            <a:r>
              <a:t>- Q1-26 revenue increase: $35m [C] - computed: rev_Q1-2026-rev_Q1-2025</a:t>
            </a:r>
          </a:p>
          <a:p>
            <a:r>
              <a:t>- 6M-26 revenue increase: $64m [C] - computed: rev_6M-2026-rev_6M-2025</a:t>
            </a:r>
          </a:p>
          <a:p>
            <a:r>
              <a:t>Quote: "Cars continue to go up. The cost of the CARFAX report as a percent of that continues to decline." - Scott Fredericks (President, CARFAX), Investor Day, 2026-05-12 (transcripts/MBGL_2026-05-12_investor-day.md)</a:t>
            </a:r>
          </a:p>
          <a:p>
            <a:r>
              <a:t>Quote: "The majority of that is in value." - Matt Calderone (CFO), Investor Day, 2026-05-12, on core 5-7% growth (transcripts/MBGL_2026-05-12_investor-day.md)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Organic growth beat US vehicle sales in 10 of 11 years; the only common move was the 2020-21 shock</a:t>
            </a:r>
          </a:p>
          <a:p>
            <a:r>
              <a:t>Sources: extraction/presentations.csv (ID s.91 data labels); analysis/K_session_tables.md (D9, D1); analysis/D9_demand_drivers.md §3; analysis/D1_moat.md §4</a:t>
            </a:r>
          </a:p>
          <a:p>
            <a:r>
              <a:t>Numbers on this slide (value [tier] - source / row):</a:t>
            </a:r>
          </a:p>
          <a:p>
            <a:r>
              <a:t>- Mobility organic growth 2015 (s.91, mapping inferred): 10% [D] - extraction/presentations.csv [page=91; line_item_contains=Mobility Organic Growth; list_index=0]</a:t>
            </a:r>
          </a:p>
          <a:p>
            <a:r>
              <a:t>- Mobility organic growth 2016 (s.91, mapping inferred): 11% [D] - extraction/presentations.csv [page=91; line_item_contains=Mobility Organic Growth; list_index=1]</a:t>
            </a:r>
          </a:p>
          <a:p>
            <a:r>
              <a:t>- Mobility organic growth 2017 (s.91, mapping inferred): 14% [D] - extraction/presentations.csv [page=91; line_item_contains=Mobility Organic Growth; list_index=2]</a:t>
            </a:r>
          </a:p>
          <a:p>
            <a:r>
              <a:t>- Mobility organic growth 2018 (s.91, mapping inferred): 11% [D] - extraction/presentations.csv [page=91; line_item_contains=Mobility Organic Growth; list_index=3]</a:t>
            </a:r>
          </a:p>
          <a:p>
            <a:r>
              <a:t>- Mobility organic growth 2019 (s.91, mapping inferred): 10% [D] - extraction/presentations.csv [page=91; line_item_contains=Mobility Organic Growth; list_index=4]</a:t>
            </a:r>
          </a:p>
          <a:p>
            <a:r>
              <a:t>- Mobility organic growth 2020 (s.91, mapping inferred): -2% [D] - extraction/presentations.csv [page=91; line_item_contains=Mobility Organic Growth; list_index=5]</a:t>
            </a:r>
          </a:p>
          <a:p>
            <a:r>
              <a:t>- Mobility organic growth 2021 (s.91, mapping inferred): 18% [D] - extraction/presentations.csv [page=91; line_item_contains=Mobility Organic Growth; list_index=6]</a:t>
            </a:r>
          </a:p>
          <a:p>
            <a:r>
              <a:t>- Mobility organic growth 2022 (s.91, mapping inferred): 10% [D] - extraction/presentations.csv [page=91; line_item_contains=Mobility Organic Growth; list_index=7]</a:t>
            </a:r>
          </a:p>
          <a:p>
            <a:r>
              <a:t>- Mobility organic growth 2023 (s.91, mapping inferred): 9% [D] - extraction/presentations.csv [page=91; line_item_contains=Mobility Organic Growth; list_index=8]</a:t>
            </a:r>
          </a:p>
          <a:p>
            <a:r>
              <a:t>- Mobility organic growth 2024 (s.91, mapping inferred): 9% [D] - extraction/presentations.csv [page=91; line_item_contains=Mobility Organic Growth; list_index=9]</a:t>
            </a:r>
          </a:p>
          <a:p>
            <a:r>
              <a:t>- Mobility organic growth 2025 (s.91, mapping inferred): 9% [D] - extraction/presentations.csv [page=91; line_item_contains=Mobility Organic Growth; list_index=10]</a:t>
            </a:r>
          </a:p>
          <a:p>
            <a:r>
              <a:t>- Industry (FRED) growth 2015 (s.91, mapping inferred): 6% [D] - extraction/presentations.csv [page=91; line_item_contains=Industry Growth; list_index=0]</a:t>
            </a:r>
          </a:p>
          <a:p>
            <a:r>
              <a:t>- Industry (FRED) growth 2016 (s.91, mapping inferred): 0% [D] - extraction/presentations.csv [page=91; line_item_contains=Industry Growth; list_index=1]</a:t>
            </a:r>
          </a:p>
          <a:p>
            <a:r>
              <a:t>- Industry (FRED) growth 2017 (s.91, mapping inferred): -2% [D] - extraction/presentations.csv [page=91; line_item_contains=Industry Growth; list_index=2]</a:t>
            </a:r>
          </a:p>
          <a:p>
            <a:r>
              <a:t>- Industry (FRED) growth 2018 (s.91, mapping inferred): 1% [D] - extraction/presentations.csv [page=91; line_item_contains=Industry Growth; list_index=3]</a:t>
            </a:r>
          </a:p>
          <a:p>
            <a:r>
              <a:t>- Industry (FRED) growth 2019 (s.91, mapping inferred): -1% [D] - extraction/presentations.csv [page=91; line_item_contains=Industry Growth; list_index=4]</a:t>
            </a:r>
          </a:p>
          <a:p>
            <a:r>
              <a:t>- Industry (FRED) growth 2020 (s.91, mapping inferred): -15% [D] - extraction/presentations.csv [page=91; line_item_contains=Industry Growth; list_index=5]</a:t>
            </a:r>
          </a:p>
          <a:p>
            <a:r>
              <a:t>- Industry (FRED) growth 2021 (s.91, mapping inferred): 4% [D] - extraction/presentations.csv [page=91; line_item_contains=Industry Growth; list_index=6]</a:t>
            </a:r>
          </a:p>
          <a:p>
            <a:r>
              <a:t>- Industry (FRED) growth 2022 (s.91, mapping inferred): -8% [D] - extraction/presentations.csv [page=91; line_item_contains=Industry Growth; list_index=7]</a:t>
            </a:r>
          </a:p>
          <a:p>
            <a:r>
              <a:t>- Industry (FRED) growth 2023 (s.91, mapping inferred): 13% [D] - extraction/presentations.csv [page=91; line_item_contains=Industry Growth; list_index=8]</a:t>
            </a:r>
          </a:p>
          <a:p>
            <a:r>
              <a:t>- Industry (FRED) growth 2024 (s.91, mapping inferred): 2% [D] - extraction/presentations.csv [page=91; line_item_contains=Industry Growth; list_index=9]</a:t>
            </a:r>
          </a:p>
          <a:p>
            <a:r>
              <a:t>- Industry (FRED) growth 2025 (s.91, mapping inferred): 2% [D] - extraction/presentations.csv [page=91; line_item_contains=Industry Growth; list_index=10]</a:t>
            </a:r>
          </a:p>
          <a:p>
            <a:r>
              <a:t>- Mean organic growth 2015-25: 9.9% [C] - computed: (org_2015+org_2016+org_2017+org_2018+org_2019+org_2020+org_2021+org_2022+org_2023+org_2024+org_2025)/11</a:t>
            </a:r>
          </a:p>
          <a:p>
            <a:r>
              <a:t>- Mean industry growth 2015-25: 0.2% [C] - computed: (ind_2015+ind_2016+ind_2017+ind_2018+ind_2019+ind_2020+ind_2021+ind_2022+ind_2023+ind_2024+ind_2025)/11</a:t>
            </a:r>
          </a:p>
          <a:p>
            <a:r>
              <a:t>- Correlation organic vs industry (all / ex-2020-21): 0.54 / -0.39 [C] - analysis/K_session_tables.md [section=D9_demand_drivers; evidence=corr 0.54 (all), -0.39 ex-2020/21]</a:t>
            </a:r>
          </a:p>
          <a:p>
            <a:r>
              <a:t>- Years organic beat industry: 10 of 11 [C] - analysis/D1_moat.md [section=section 4.1; evidence=In ten of eleven years]</a:t>
            </a:r>
          </a:p>
          <a:p>
            <a:r>
              <a:t>- 2020 recurring organic growth: 3% [D] - analysis/D1_moat.md [section=section 4.2; evidence=recurring organic +3%]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Pay rewarded CARFAX EBITA and tenure; the spin turned performance shares into time-vested RSUs</a:t>
            </a:r>
          </a:p>
          <a:p>
            <a:r>
              <a:t>Sources: analysis/D5_incentives.md §2-5 (10/A p.391-414; 10-Q Ex.10.17-10.18); canonical/primary.csv (CF.sbc)</a:t>
            </a:r>
          </a:p>
          <a:p>
            <a:r>
              <a:t>Numbers on this slide (value [tier] - source / row):</a:t>
            </a:r>
          </a:p>
          <a:p>
            <a:r>
              <a:t>- Eager FY25 SCT total: 6444004 [D] - analysis/D5_incentives.md [section=section 2.1; evidence=$6,444,004]</a:t>
            </a:r>
          </a:p>
          <a:p>
            <a:r>
              <a:t>- Eager FY25 STI payout: 120.0% [C] - analysis/D5_incentives.md [section=section 2.2; evidence=120.0%]</a:t>
            </a:r>
          </a:p>
          <a:p>
            <a:r>
              <a:t>- Fredericks FY25 STI payout: 129.2% [C] - analysis/D5_incentives.md [section=section 2.2; evidence=129.2%]</a:t>
            </a:r>
          </a:p>
          <a:p>
            <a:r>
              <a:t>- 2023-25 PSU payouts: 182-184% [C] - analysis/D5_incentives.md [section=section 2.3; evidence=about 182%]</a:t>
            </a:r>
          </a:p>
          <a:p>
            <a:r>
              <a:t>- CARFAX PSU threshold-target spread: 4.5% [C] - analysis/D5_incentives.md [section=section 2.3; evidence=only 4.5%]</a:t>
            </a:r>
          </a:p>
          <a:p>
            <a:r>
              <a:t>- CFO 2026 target TDC: $5.0m [C] - analysis/D5_incentives.md [section=section 2.4; evidence=$5.05m [C]]</a:t>
            </a:r>
          </a:p>
          <a:p>
            <a:r>
              <a:t>- CEO 2026 target TDC: $4.5m [C] - analysis/D5_incentives.md [section=section 2.4; evidence=$4.50m [C]]</a:t>
            </a:r>
          </a:p>
          <a:p>
            <a:r>
              <a:t>- CFO one-time awards: $5.9m [C] - analysis/D5_incentives.md [section=section 2.4; evidence=$5.93m [C]]</a:t>
            </a:r>
          </a:p>
          <a:p>
            <a:r>
              <a:t>- LTIP share reserve: 14% [D] - analysis/D5_incentives.md [section=section 3.1; evidence=14% of shares outstanding]</a:t>
            </a:r>
          </a:p>
          <a:p>
            <a:r>
              <a:t>- LTIP reserve shares (m): 41.3 [C] - analysis/D5_incentives.md [section=section 3.1; evidence=about 41.3m shares]</a:t>
            </a:r>
          </a:p>
          <a:p>
            <a:r>
              <a:t>- Stock-based compensation FY25: $22m [D] - canonical/primary.csv [canon_key=CF.sbc; period=FY2025]</a:t>
            </a:r>
          </a:p>
          <a:p>
            <a:r>
              <a:t>- SBC step-up to 3-4% of revenue: 3-4% [IR] - transcripts/TARGETS_TIMELINE.md [section=Stock-based comp row; evidence=From ~1% to 3–4%]</a:t>
            </a:r>
          </a:p>
          <a:p>
            <a:r>
              <a:t>- SBC at 3-4% of FY26 revenue ($m): 56-75 [C] - analysis/D5_incentives.md [section=section 4; evidence=about $56-75m a year]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Six of seven disclosure changes coincided with the affected metric turning worse</a:t>
            </a:r>
          </a:p>
          <a:p>
            <a:r>
              <a:t>Sources: analysis/D4_disclosure_changes.md §0-4, §9-11; extraction/segments_kpi.csv (10A p.347; 10Q p.27); transcripts/MBGL_2026-05-12_investor-day.md</a:t>
            </a:r>
          </a:p>
          <a:p>
            <a:r>
              <a:t>Numbers on this slide (value [tier] - source / row):</a:t>
            </a:r>
          </a:p>
          <a:p>
            <a:r>
              <a:t>- Q1-26 new business growth per 10/A: $26m [D] - extraction/segments_kpi.csv [line_item=Subscription revenue increase from continued new business growth; fiscal_period=Q1-2026]</a:t>
            </a:r>
          </a:p>
          <a:p>
            <a:r>
              <a:t>- Q1-26 implied new business: $12m [C] - computed: k_nbq_6M-k_nbq_Q2</a:t>
            </a:r>
          </a:p>
          <a:p>
            <a:r>
              <a:t>- Q1-26 implied price: $20m [C] - computed: k_price_6M-k_price_Q2</a:t>
            </a:r>
          </a:p>
          <a:p>
            <a:r>
              <a:t>- B2B segment OP Q2-26: 3 [D] - analysis/D3_group_decomposition.md [section=section 1 Basis 1; evidence=| Q2-2026 | 101 | 3 | (22) | 82 |]</a:t>
            </a:r>
          </a:p>
          <a:p>
            <a:r>
              <a:t>- B2B transaction costs 6M-26: 33 [D] - analysis/D4_disclosure_changes.md [section=section 2; evidence=$33m in 6M-26]</a:t>
            </a:r>
          </a:p>
          <a:p>
            <a:r>
              <a:t>- SPGI 2025/26 margin target: 41-43% [D] - analysis/D10_guidance_vs_execution.md [section=section 1 scorecard; evidence=41–43% adj. OP margin]</a:t>
            </a:r>
          </a:p>
          <a:p>
            <a:r>
              <a:t>- FY26 guide in OCC terms, low: 6.6% [C] - computed: ((g_rev_lo-k_fx_6M)/rev_FY2025-1)*100</a:t>
            </a:r>
          </a:p>
          <a:p>
            <a:r>
              <a:t>- FY26 guide in OCC terms, high: 7.4% [C] - computed: ((g_rev_hi-k_fx_6M)/rev_FY2025-1)*100</a:t>
            </a:r>
          </a:p>
          <a:p>
            <a:r>
              <a:t>Quote: "We actually had an NRR number in the presentation early on. We pulled it." - Matt Calderone (CFO), Investor Day, 2026-05-12 (transcripts/MBGL_2026-05-12_investor-day.md)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The likeliest way to lose is a slow de-rating to a 6-7% grower, not a moat collapse</a:t>
            </a:r>
          </a:p>
          <a:p>
            <a:r>
              <a:t>Sources: analysis/D11_premortem.md §1-3; analysis/D7_pricing.md; analysis/D2_unit_economics.md; analysis/D3_group_decomposition.md</a:t>
            </a:r>
          </a:p>
          <a:p>
            <a:r>
              <a:t>Numbers on this slide (value [tier] - source / row):</a:t>
            </a:r>
          </a:p>
          <a:p>
            <a:r>
              <a:t>- Bear case 1 EBITDA gap: 105 [E] - analysis/D11_premortem.md [section=table row 1; evidence=~$105m Adj. EBITDA]</a:t>
            </a:r>
          </a:p>
          <a:p>
            <a:r>
              <a:t>- Bear case 2 EBITDA gap: 30-55 [E] - analysis/D11_premortem.md [section=table row 2; evidence=~$30–55m of EBITDA]</a:t>
            </a:r>
          </a:p>
          <a:p>
            <a:r>
              <a:t>- Bear case 3 EBITDA cost: 35-40 [E] - analysis/D11_premortem.md [section=table row 3; evidence=~$35–40m (~5% of EBITDA)]</a:t>
            </a:r>
          </a:p>
          <a:p>
            <a:r>
              <a:t>- Bear case 4 EBITDA gap: 35 [E] - analysis/D11_premortem.md [section=table row 4; evidence=~$35m of EBITDA]</a:t>
            </a:r>
          </a:p>
          <a:p>
            <a:r>
              <a:t>- Bear case 5 EBITDA hit: 45 [E] - analysis/D11_premortem.md [section=table row 5; evidence=−$45m of EBITDA (~6%)]</a:t>
            </a:r>
          </a:p>
          <a:p>
            <a:r>
              <a:t>- Bear case 6 GAAP pre-tax: 55-75 [E] - analysis/D11_premortem.md [section=table row 6; evidence=~$55–75m of GAAP pre-tax]</a:t>
            </a:r>
          </a:p>
          <a:p>
            <a:r>
              <a:t>- Leverage sensitivity per $50m EBITDA: 0.15-0.2x [C] - analysis/D11_premortem.md [section=table row 7; evidence=≈0.15–0.2x of leverage]</a:t>
            </a:r>
          </a:p>
          <a:p>
            <a:r>
              <a:t>- Bear case 8 EBITDA: 20-30 [E] - analysis/D11_premortem.md [section=table row 8; evidence=~$20–30m of EBITDA]</a:t>
            </a:r>
          </a:p>
          <a:p>
            <a:r>
              <a:t>- FY28 plan revenue: 2220 [E] - analysis/D11_premortem.md [section=Base for magnitudes; evidence=$2,220m]</a:t>
            </a:r>
          </a:p>
          <a:p>
            <a:r>
              <a:t>- FY28 plan Adj. EBITDA: 870 [E] - analysis/D11_premortem.md [section=Base for magnitudes; evidence=$870m]</a:t>
            </a:r>
          </a:p>
          <a:p>
            <a:r>
              <a:t>- Price points of 6M growth: 4.2% [C] - computed: k_price_6M/rev_6M-2025*100</a:t>
            </a:r>
          </a:p>
          <a:p>
            <a:r>
              <a:t>- Q1-26 implied new business: $12m [C] - computed: k_nbq_6M-k_nbq_Q2</a:t>
            </a:r>
          </a:p>
          <a:p>
            <a:r>
              <a:t>- New business Q2-26 (approx.): $8m [D] - extraction/segments_kpi.csv [line_item=Revenue increase from continued new business growth (approximately); fiscal_period=Q2-2026]</a:t>
            </a:r>
          </a:p>
          <a:p>
            <a:r>
              <a:t>- Ad expense growth FY23-25: 31.3% [C] - computed: (ad_FY2025/ad_FY2023-1)*100</a:t>
            </a:r>
          </a:p>
          <a:p>
            <a:r>
              <a:t>- Revenue growth FY23-25: 17.8% [C] - computed: (rev_FY2025/rev_FY2023-1)*100</a:t>
            </a:r>
          </a:p>
          <a:p>
            <a:r>
              <a:t>- B2B growth FY24: 3.1% [C] - computed: (b2b_rev_FY2024/b2b_rev_FY2023-1)*100</a:t>
            </a:r>
          </a:p>
          <a:p>
            <a:r>
              <a:t>- B2B growth FY25: 5.9% [C] - computed: (b2b_rev_FY2025/b2b_rev_FY2024-1)*100</a:t>
            </a:r>
          </a:p>
          <a:p>
            <a:r>
              <a:t>- B2B flow-through FY25: -17.6% [C] - computed: (b2b_ae_FY2025-b2b_ae_FY2024)/(b2b_rev_FY2025-b2b_rev_FY2024)*100</a:t>
            </a:r>
          </a:p>
          <a:p>
            <a:r>
              <a:t>- Gross leverage at spin: 2.7 [IR] - transcripts/TARGETS_TIMELINE.md [section=Leverage row; evidence=Gross 2.7x, net 2.4x]</a:t>
            </a:r>
          </a:p>
          <a:p>
            <a:r>
              <a:t>- Interest / standalone normalized OP: 31.2% [C] - computed: b_interest/b_norm_op*100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Three questions decide the thesis: dealer volume vs price, a dollar margin bridge, and AI's effect on traffic</a:t>
            </a:r>
          </a:p>
          <a:p>
            <a:r>
              <a:t>Sources: analysis/D12_management_QA.md; analysis/D11_premortem.md; analysis/D3_group_decomposition.md §5; analysis/D10_guidance_vs_execution.md §3</a:t>
            </a:r>
          </a:p>
          <a:p>
            <a:r>
              <a:t>Numbers on this slide (value [tier] - source / row):</a:t>
            </a:r>
          </a:p>
          <a:p>
            <a:r>
              <a:t>- Adj. EBITDA FY2025: $711m [D] - extraction/segments_kpi.csv [line_item=Adjusted EBITDA; fiscal_period=FY2025; page=358]</a:t>
            </a:r>
          </a:p>
          <a:p>
            <a:r>
              <a:t>- B2B segment OP Q2-26: 3 [D] - analysis/D3_group_decomposition.md [section=section 1 Basis 1; evidence=| Q2-2026 | 101 | 3 | (22) | 82 |]</a:t>
            </a:r>
          </a:p>
          <a:p>
            <a:r>
              <a:t>- Annual dividend ($m): $70.8m [C] - computed: div_q*4*shares</a:t>
            </a:r>
          </a:p>
          <a:p>
            <a:r>
              <a:t>- SBC step-up to 3-4% of revenue: 3-4% [IR] - transcripts/TARGETS_TIMELINE.md [section=Stock-based comp row; evidence=From ~1% to 3–4%]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The bull case is strong where it is audited: moat evidence, cash generation and revenue delivery</a:t>
            </a:r>
          </a:p>
          <a:p>
            <a:r>
              <a:t>Sources: analysis/SYNTHESIS.md (honest counters); analysis/D11_premortem.md §3; analysis/D4_disclosure_changes.md (honest counters); analysis/D2_unit_economics.md; transcripts/MBGL_2026-09-10_goldman-sachs-communacopia.md</a:t>
            </a:r>
          </a:p>
          <a:p>
            <a:r>
              <a:t>Numbers on this slide (value [tier] - source / row):</a:t>
            </a:r>
          </a:p>
          <a:p>
            <a:r>
              <a:t>- CARFAX Adj. EBITDA margin FY2023: 45.5% [C] - computed: carfax_ae_FY2023/carfax_rev_FY2023*100</a:t>
            </a:r>
          </a:p>
          <a:p>
            <a:r>
              <a:t>- CARFAX Adj. EBITDA margin 6M-26: 48.0% [C] - computed: carfax_ae_6M-2026/carfax_rev_6M-2026*100</a:t>
            </a:r>
          </a:p>
          <a:p>
            <a:r>
              <a:t>- 2020 recurring organic growth: 3% [D] - analysis/D1_moat.md [section=section 4.2; evidence=recurring organic +3%]</a:t>
            </a:r>
          </a:p>
          <a:p>
            <a:r>
              <a:t>- Adj. EBITDA Q2-2025: $188m [D] - extraction/segments_kpi.csv [line_item=Adjusted EBITDA; fiscal_period=Q2-2025; page=15]</a:t>
            </a:r>
          </a:p>
          <a:p>
            <a:r>
              <a:t>- B2B flow-through 6M-26: 50.0% [C] - computed: (b2b_ae_6M-2026-b2b_ae_6M-2025)/(b2b_rev_6M-2026-b2b_rev_6M-2025)*100</a:t>
            </a:r>
          </a:p>
          <a:p>
            <a:r>
              <a:t>- B2B flow-through FY25: -17.6% [C] - computed: (b2b_ae_FY2025-b2b_ae_FY2024)/(b2b_rev_FY2025-b2b_rev_FY2024)*100</a:t>
            </a:r>
          </a:p>
          <a:p>
            <a:r>
              <a:t>- Standalone FCF estimate: 365 [C] - analysis/D3_group_decomposition.md [section=section 5; evidence=~$365m]</a:t>
            </a:r>
          </a:p>
          <a:p>
            <a:r>
              <a:t>- Capex / revenue FY2025: 1.4% [C] - computed: -capex_FY2025/rev_FY2025*100</a:t>
            </a:r>
          </a:p>
          <a:p>
            <a:r>
              <a:t>- Dividend / standalone FCF: 19.4% [C] - computed: c_div/c_fcf_standalone*100</a:t>
            </a:r>
          </a:p>
          <a:p>
            <a:r>
              <a:t>Quote: "the majority of it's sitting behind a firewall or a paywall somewhere." - Bill Eager (CEO), Goldman Sachs Communacopia, 2026-09-10 (transcripts/MBGL_2026-09-10_goldman-sachs-communacopia.md)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What this deck cannot see: native filings, SEC XBRL, proxy data and any used-vehicle market series</a:t>
            </a:r>
          </a:p>
          <a:p>
            <a:r>
              <a:t>Sources: deliverables/PART_A_SUMMARY.md (verification, gaps); canonical/VERIFICATION.md; analysis/D_SPEC.md; extraction/presentations_NOTES.md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7FC4CB"/>
                </a:solidFill>
                <a:latin typeface="Arial"/>
              </a:rPr>
              <a:t>PART E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607040" cy="1737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Mobility Global (MBGL): a wide-moat vehicle-data utility being priced for a growth rate it no longer 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4241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500" b="0" i="0">
                <a:solidFill>
                  <a:srgbClr val="D5ECEE"/>
                </a:solidFill>
                <a:latin typeface="Arial"/>
              </a:rPr>
              <a:t>CARFAX + B2B carve-out from S&amp;P Global (spin 2026-07-01). Financials as originally reported, USD millions unless stated.</a:t>
            </a:r>
          </a:p>
        </p:txBody>
      </p:sp>
      <p:sp>
        <p:nvSpPr>
          <p:cNvPr id="6" name="Chip 1"/>
          <p:cNvSpPr/>
          <p:nvPr/>
        </p:nvSpPr>
        <p:spPr>
          <a:xfrm>
            <a:off x="640080" y="40690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54864" tIns="27432" bIns="27432"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$1,750m</a:t>
            </a:r>
          </a:p>
          <a:p>
            <a:pPr algn="l"/>
            <a:r>
              <a:rPr sz="1050" b="0" i="0">
                <a:solidFill>
                  <a:srgbClr val="D5ECEE"/>
                </a:solidFill>
                <a:latin typeface="Arial"/>
              </a:rPr>
              <a:t>FY25 revenue [D]</a:t>
            </a:r>
          </a:p>
        </p:txBody>
      </p:sp>
      <p:sp>
        <p:nvSpPr>
          <p:cNvPr id="7" name="Chip 2"/>
          <p:cNvSpPr/>
          <p:nvPr/>
        </p:nvSpPr>
        <p:spPr>
          <a:xfrm>
            <a:off x="3429000" y="40690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54864" tIns="27432" bIns="27432"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40.6%</a:t>
            </a:r>
          </a:p>
          <a:p>
            <a:pPr algn="l"/>
            <a:r>
              <a:rPr sz="1050" b="0" i="0">
                <a:solidFill>
                  <a:srgbClr val="D5ECEE"/>
                </a:solidFill>
                <a:latin typeface="Arial"/>
              </a:rPr>
              <a:t>FY25 Adj. EBITDA margin [C]</a:t>
            </a:r>
          </a:p>
        </p:txBody>
      </p:sp>
      <p:sp>
        <p:nvSpPr>
          <p:cNvPr id="8" name="Chip 3"/>
          <p:cNvSpPr/>
          <p:nvPr/>
        </p:nvSpPr>
        <p:spPr>
          <a:xfrm>
            <a:off x="6217920" y="40690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54864" tIns="27432" bIns="27432"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$461m</a:t>
            </a:r>
          </a:p>
          <a:p>
            <a:pPr algn="l"/>
            <a:r>
              <a:rPr sz="1050" b="0" i="0">
                <a:solidFill>
                  <a:srgbClr val="D5ECEE"/>
                </a:solidFill>
                <a:latin typeface="Arial"/>
              </a:rPr>
              <a:t>FY25 free cash flow [D]</a:t>
            </a:r>
          </a:p>
        </p:txBody>
      </p:sp>
      <p:sp>
        <p:nvSpPr>
          <p:cNvPr id="9" name="Chip 4"/>
          <p:cNvSpPr/>
          <p:nvPr/>
        </p:nvSpPr>
        <p:spPr>
          <a:xfrm>
            <a:off x="9006840" y="406908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54864" tIns="27432" bIns="27432"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6.9-7.7%</a:t>
            </a:r>
          </a:p>
          <a:p>
            <a:pPr algn="l"/>
            <a:r>
              <a:rPr sz="1050" b="0" i="0">
                <a:solidFill>
                  <a:srgbClr val="D5ECEE"/>
                </a:solidFill>
                <a:latin typeface="Arial"/>
              </a:rPr>
              <a:t>FY26 revenue growth guide [D]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0607040" cy="868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>
                <a:solidFill>
                  <a:srgbClr val="D5ECEE"/>
                </a:solidFill>
                <a:latin typeface="Arial"/>
              </a:rPr>
              <a:t>Prepared 2026-10-06</a:t>
            </a:r>
          </a:p>
          <a:p>
            <a:pPr algn="l"/>
            <a:r>
              <a:rPr sz="1100" b="0" i="0">
                <a:solidFill>
                  <a:srgbClr val="D5ECEE"/>
                </a:solidFill>
                <a:latin typeface="Arial"/>
              </a:rPr>
              <a:t>Evidence tiers: [D] disclosed  [C] computed  [E] estimate  [IR] management verbal</a:t>
            </a:r>
          </a:p>
          <a:p>
            <a:pPr algn="l"/>
            <a:r>
              <a:rPr sz="1100" b="0" i="0">
                <a:solidFill>
                  <a:srgbClr val="D5ECEE"/>
                </a:solidFill>
                <a:latin typeface="Arial"/>
              </a:rPr>
              <a:t>Built from analysis/SYNTHESIS.md, D1-D12, canonical/primary.csv and extraction/*.csv</a:t>
            </a:r>
          </a:p>
        </p:txBody>
      </p:sp>
      <p:sp>
        <p:nvSpPr>
          <p:cNvPr id="11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BFC8D6"/>
                </a:solidFill>
                <a:latin typeface="Arial"/>
              </a:rPr>
              <a:t>Source: analysis/SYNTHESIS.md; deliverables/PART_A_SUMMARY.md; canonical/primary.csv; extraction/segments_kpi.csv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The CARFAX moat is real and widening, but growth is now price-led and the margin story keeps resetting</a:t>
            </a:r>
          </a:p>
        </p:txBody>
      </p:sp>
      <p:sp>
        <p:nvSpPr>
          <p:cNvPr id="4" name="Card 1"/>
          <p:cNvSpPr/>
          <p:nvPr/>
        </p:nvSpPr>
        <p:spPr>
          <a:xfrm>
            <a:off x="411480" y="1371600"/>
            <a:ext cx="76352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" name="Tier tag D/C"/>
          <p:cNvSpPr/>
          <p:nvPr/>
        </p:nvSpPr>
        <p:spPr>
          <a:xfrm>
            <a:off x="7466076" y="1463040"/>
            <a:ext cx="489204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[D/C]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435608"/>
            <a:ext cx="6853428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1  Growth is mostly price, and new business is fading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746504"/>
            <a:ext cx="7415784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Price was ~$36m of the $64m 6M-26 revenue increase (~4.2pt of 7.5% growth); new business fell from ~$12m (Q1) to ~$8m (Q2). The Form 10/A had called Q1 growth "new business".</a:t>
            </a:r>
          </a:p>
        </p:txBody>
      </p:sp>
      <p:sp>
        <p:nvSpPr>
          <p:cNvPr id="8" name="Card 2"/>
          <p:cNvSpPr/>
          <p:nvPr/>
        </p:nvSpPr>
        <p:spPr>
          <a:xfrm>
            <a:off x="411480" y="2331720"/>
            <a:ext cx="76352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ier tag D/C"/>
          <p:cNvSpPr/>
          <p:nvPr/>
        </p:nvSpPr>
        <p:spPr>
          <a:xfrm>
            <a:off x="7466076" y="2423160"/>
            <a:ext cx="489204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395728"/>
            <a:ext cx="6853428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2  The CARFAX moat is wide and widening; B2B's is moderate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706624"/>
            <a:ext cx="7415784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177k+ sources and 38bn+ records (records +9.3%/yr since FY16); organic growth beat industry units in 10 of 11 years. B2B grew +3.1% / +5.9% with -18% FY25 flow-through.</a:t>
            </a:r>
          </a:p>
        </p:txBody>
      </p:sp>
      <p:sp>
        <p:nvSpPr>
          <p:cNvPr id="12" name="Card 3"/>
          <p:cNvSpPr/>
          <p:nvPr/>
        </p:nvSpPr>
        <p:spPr>
          <a:xfrm>
            <a:off x="411480" y="3291840"/>
            <a:ext cx="76352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ier tag D/C/IR"/>
          <p:cNvSpPr/>
          <p:nvPr/>
        </p:nvSpPr>
        <p:spPr>
          <a:xfrm>
            <a:off x="7232904" y="3383280"/>
            <a:ext cx="72237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[D/C/IR]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355848"/>
            <a:ext cx="662025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3  The margin narrative keeps resetting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666744"/>
            <a:ext cx="7415784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SPGI's 41-43% target was missed (39.9% FY25); standalone and one-time costs drifted to the top of their ranges; +50bp/yr expansion now starts in 2028.</a:t>
            </a:r>
          </a:p>
        </p:txBody>
      </p:sp>
      <p:sp>
        <p:nvSpPr>
          <p:cNvPr id="16" name="Card 4"/>
          <p:cNvSpPr/>
          <p:nvPr/>
        </p:nvSpPr>
        <p:spPr>
          <a:xfrm>
            <a:off x="411480" y="4251960"/>
            <a:ext cx="76352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ier tag C"/>
          <p:cNvSpPr/>
          <p:nvPr/>
        </p:nvSpPr>
        <p:spPr>
          <a:xfrm>
            <a:off x="7621524" y="4343400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315968"/>
            <a:ext cx="700887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4  The spin changes earnings power, not cash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4626864"/>
            <a:ext cx="7415784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Interest rises from $13m to ~$110m (~31% of normalized OP). Standalone normalized NI is ~$171m vs $220m carve-out; the dividend is ~41% of it but only ~19% of FCF.</a:t>
            </a:r>
          </a:p>
        </p:txBody>
      </p:sp>
      <p:sp>
        <p:nvSpPr>
          <p:cNvPr id="20" name="Card 5"/>
          <p:cNvSpPr/>
          <p:nvPr/>
        </p:nvSpPr>
        <p:spPr>
          <a:xfrm>
            <a:off x="411480" y="5212080"/>
            <a:ext cx="76352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ier tag D"/>
          <p:cNvSpPr/>
          <p:nvPr/>
        </p:nvSpPr>
        <p:spPr>
          <a:xfrm>
            <a:off x="7621524" y="5303520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5276088"/>
            <a:ext cx="700887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5  Disclosure retreated as metrics weakened; pay is loosely tied to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5586984"/>
            <a:ext cx="7415784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NRR pulled, organic growth no longer printed, segment measure switched the quarter B2B OP fell to $3m. PSUs became time-vested RSUs; no TSR metric; insiders &lt;1%.</a:t>
            </a:r>
          </a:p>
        </p:txBody>
      </p:sp>
      <p:sp>
        <p:nvSpPr>
          <p:cNvPr id="24" name="Panel"/>
          <p:cNvSpPr/>
          <p:nvPr/>
        </p:nvSpPr>
        <p:spPr>
          <a:xfrm>
            <a:off x="8275320" y="1371600"/>
            <a:ext cx="3520440" cy="470916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48132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Bottom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1874520"/>
            <a:ext cx="3200400" cy="274320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Likeliest loss: a slow de-rating of a ~7% grower with ~39-40% margins and 2.7x gross leverage, not a moat collapse [Inference].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Like-for-like growth has stepped down: ~10% (2015-22) to 8.6% (FY23-25) to ~7% (FY26 guide).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0" i="0">
                <a:solidFill>
                  <a:srgbClr val="262626"/>
                </a:solidFill>
                <a:latin typeface="Arial"/>
              </a:rPr>
              <a:t>What would change our mind: printed dealer-location, retention and price-per-location KPIs.</a:t>
            </a:r>
          </a:p>
        </p:txBody>
      </p:sp>
      <p:sp>
        <p:nvSpPr>
          <p:cNvPr id="27" name="KPI 1"/>
          <p:cNvSpPr/>
          <p:nvPr/>
        </p:nvSpPr>
        <p:spPr>
          <a:xfrm>
            <a:off x="8458200" y="4663440"/>
            <a:ext cx="1545336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8" name="Tier tag C"/>
          <p:cNvSpPr/>
          <p:nvPr/>
        </p:nvSpPr>
        <p:spPr>
          <a:xfrm>
            <a:off x="9614916" y="471830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4846320"/>
            <a:ext cx="1399032" cy="3175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8.6%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5163820"/>
            <a:ext cx="1399032" cy="76149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Revenue CAGR FY23-25</a:t>
            </a:r>
          </a:p>
        </p:txBody>
      </p:sp>
      <p:sp>
        <p:nvSpPr>
          <p:cNvPr id="31" name="KPI 2"/>
          <p:cNvSpPr/>
          <p:nvPr/>
        </p:nvSpPr>
        <p:spPr>
          <a:xfrm>
            <a:off x="10113264" y="4663440"/>
            <a:ext cx="1545336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ier tag D"/>
          <p:cNvSpPr/>
          <p:nvPr/>
        </p:nvSpPr>
        <p:spPr>
          <a:xfrm>
            <a:off x="11269980" y="471830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6416" y="4846320"/>
            <a:ext cx="1399032" cy="3175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6.9-7.7%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6416" y="5163820"/>
            <a:ext cx="1399032" cy="76149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FY26 guide (cut Aug-7)</a:t>
            </a:r>
          </a:p>
        </p:txBody>
      </p:sp>
      <p:sp>
        <p:nvSpPr>
          <p:cNvPr id="35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analysis/SYNTHESIS.md; analysis/D1_moat.md; analysis/D3_group_decomposition.md; analysis/D4_disclosure_changes.md; analysis/D5_incentives.md; analysis/D7_pricing.md; extraction/segments_kpi.csv (10Q p.27); canonical/primary.csv</a:t>
            </a:r>
          </a:p>
        </p:txBody>
      </p:sp>
      <p:sp>
        <p:nvSpPr>
          <p:cNvPr id="36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BUSINESS AT A GLANCE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A $1.75bn VIN-keyed data utility: 81% subscription, two-thirds CARFAX, and roughly 60% paid for by dealers</a:t>
            </a:r>
          </a:p>
        </p:txBody>
      </p:sp>
      <p:sp>
        <p:nvSpPr>
          <p:cNvPr id="4" name="KPI 1"/>
          <p:cNvSpPr/>
          <p:nvPr/>
        </p:nvSpPr>
        <p:spPr>
          <a:xfrm>
            <a:off x="411480" y="1371600"/>
            <a:ext cx="1655064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" name="Tier tag D"/>
          <p:cNvSpPr/>
          <p:nvPr/>
        </p:nvSpPr>
        <p:spPr>
          <a:xfrm>
            <a:off x="1677924" y="142646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554480"/>
            <a:ext cx="1508760" cy="381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$1,750m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935480"/>
            <a:ext cx="1508760" cy="4145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FY25 revenue</a:t>
            </a:r>
          </a:p>
        </p:txBody>
      </p:sp>
      <p:sp>
        <p:nvSpPr>
          <p:cNvPr id="8" name="KPI 2"/>
          <p:cNvSpPr/>
          <p:nvPr/>
        </p:nvSpPr>
        <p:spPr>
          <a:xfrm>
            <a:off x="2176272" y="1371600"/>
            <a:ext cx="1655064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ier tag D/C"/>
          <p:cNvSpPr/>
          <p:nvPr/>
        </p:nvSpPr>
        <p:spPr>
          <a:xfrm>
            <a:off x="3287268" y="1426464"/>
            <a:ext cx="489204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9424" y="1554480"/>
            <a:ext cx="1508760" cy="381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$711m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1935480"/>
            <a:ext cx="1508760" cy="4145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FY25 Adj. EBITDA (40.6%)</a:t>
            </a:r>
          </a:p>
        </p:txBody>
      </p:sp>
      <p:sp>
        <p:nvSpPr>
          <p:cNvPr id="12" name="KPI 3"/>
          <p:cNvSpPr/>
          <p:nvPr/>
        </p:nvSpPr>
        <p:spPr>
          <a:xfrm>
            <a:off x="3941064" y="1371600"/>
            <a:ext cx="1655064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ier tag D"/>
          <p:cNvSpPr/>
          <p:nvPr/>
        </p:nvSpPr>
        <p:spPr>
          <a:xfrm>
            <a:off x="5207508" y="142646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6" y="1554480"/>
            <a:ext cx="1508760" cy="381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$461m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1935480"/>
            <a:ext cx="1508760" cy="4145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FY25 free cash flow</a:t>
            </a:r>
          </a:p>
        </p:txBody>
      </p:sp>
      <p:sp>
        <p:nvSpPr>
          <p:cNvPr id="16" name="KPI 4"/>
          <p:cNvSpPr/>
          <p:nvPr/>
        </p:nvSpPr>
        <p:spPr>
          <a:xfrm>
            <a:off x="5705856" y="1371600"/>
            <a:ext cx="1655064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ier tag C"/>
          <p:cNvSpPr/>
          <p:nvPr/>
        </p:nvSpPr>
        <p:spPr>
          <a:xfrm>
            <a:off x="6972300" y="142646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1554480"/>
            <a:ext cx="1508760" cy="381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81%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1935480"/>
            <a:ext cx="1508760" cy="4145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Subscription share</a:t>
            </a:r>
          </a:p>
        </p:txBody>
      </p:sp>
      <p:sp>
        <p:nvSpPr>
          <p:cNvPr id="20" name="KPI 5"/>
          <p:cNvSpPr/>
          <p:nvPr/>
        </p:nvSpPr>
        <p:spPr>
          <a:xfrm>
            <a:off x="411480" y="2478024"/>
            <a:ext cx="1655064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ier tag D"/>
          <p:cNvSpPr/>
          <p:nvPr/>
        </p:nvSpPr>
        <p:spPr>
          <a:xfrm>
            <a:off x="1677924" y="2532888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2660904"/>
            <a:ext cx="1508760" cy="381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177k+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041904"/>
            <a:ext cx="1508760" cy="4145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Data sources</a:t>
            </a:r>
          </a:p>
        </p:txBody>
      </p:sp>
      <p:sp>
        <p:nvSpPr>
          <p:cNvPr id="24" name="KPI 6"/>
          <p:cNvSpPr/>
          <p:nvPr/>
        </p:nvSpPr>
        <p:spPr>
          <a:xfrm>
            <a:off x="2176272" y="2478024"/>
            <a:ext cx="1655064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ier tag D"/>
          <p:cNvSpPr/>
          <p:nvPr/>
        </p:nvSpPr>
        <p:spPr>
          <a:xfrm>
            <a:off x="3442716" y="2532888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9424" y="2660904"/>
            <a:ext cx="1508760" cy="381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38bn+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9424" y="3041904"/>
            <a:ext cx="1508760" cy="4145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Vehicle history records</a:t>
            </a:r>
          </a:p>
        </p:txBody>
      </p:sp>
      <p:sp>
        <p:nvSpPr>
          <p:cNvPr id="28" name="KPI 7"/>
          <p:cNvSpPr/>
          <p:nvPr/>
        </p:nvSpPr>
        <p:spPr>
          <a:xfrm>
            <a:off x="3941064" y="2478024"/>
            <a:ext cx="1655064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9" name="Tier tag D"/>
          <p:cNvSpPr/>
          <p:nvPr/>
        </p:nvSpPr>
        <p:spPr>
          <a:xfrm>
            <a:off x="5207508" y="2532888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4216" y="2660904"/>
            <a:ext cx="1508760" cy="381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40k+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4216" y="3041904"/>
            <a:ext cx="1508760" cy="4145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CARFAX dealer customers</a:t>
            </a:r>
          </a:p>
        </p:txBody>
      </p:sp>
      <p:sp>
        <p:nvSpPr>
          <p:cNvPr id="32" name="KPI 8"/>
          <p:cNvSpPr/>
          <p:nvPr/>
        </p:nvSpPr>
        <p:spPr>
          <a:xfrm>
            <a:off x="5705856" y="2478024"/>
            <a:ext cx="1655064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3" name="Tier tag C"/>
          <p:cNvSpPr/>
          <p:nvPr/>
        </p:nvSpPr>
        <p:spPr>
          <a:xfrm>
            <a:off x="6972300" y="2532888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2660904"/>
            <a:ext cx="1508760" cy="381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400" b="1" i="0">
                <a:solidFill>
                  <a:srgbClr val="1F3864"/>
                </a:solidFill>
                <a:latin typeface="Arial"/>
              </a:rPr>
              <a:t>17%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3041904"/>
            <a:ext cx="1508760" cy="4145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International revenue</a:t>
            </a:r>
          </a:p>
        </p:txBody>
      </p:sp>
      <p:sp>
        <p:nvSpPr>
          <p:cNvPr id="36" name="Panel"/>
          <p:cNvSpPr/>
          <p:nvPr/>
        </p:nvSpPr>
        <p:spPr>
          <a:xfrm>
            <a:off x="411480" y="3657600"/>
            <a:ext cx="6949440" cy="24231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730752"/>
            <a:ext cx="658368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Two segments, one 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069080"/>
            <a:ext cx="6629400" cy="196596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1" i="0">
                <a:solidFill>
                  <a:srgbClr val="1F3864"/>
                </a:solidFill>
                <a:latin typeface="Arial"/>
              </a:rPr>
              <a:t>CARFAX (65% of revenue):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Advantage vehicle-history reports, Listings, Car Care / For Life, and BIG for lenders and insurers. FY25 segment Adj. EBITDA margin 46.9%.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1" i="0">
                <a:solidFill>
                  <a:srgbClr val="1F3864"/>
                </a:solidFill>
                <a:latin typeface="Arial"/>
              </a:rPr>
              <a:t>B2B (35%):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automotiveMastermind, Polk audiences and recall, Market Scan, and Strategy &amp; Planning forecasts. FY25 margin 32.4%.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1" i="0">
                <a:solidFill>
                  <a:srgbClr val="1F3864"/>
                </a:solidFill>
                <a:latin typeface="Arial"/>
              </a:rPr>
              <a:t>Model is B2B2C: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the consumer creates the demand; the dealer pays. Dealers ~60% and OEMs ~10% of revenue per the filing.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1371600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FY25 revenue by customer type (deck basis)</a:t>
            </a:r>
          </a:p>
        </p:txBody>
      </p:sp>
      <p:sp>
        <p:nvSpPr>
          <p:cNvPr id="40" name="Tier tag D"/>
          <p:cNvSpPr/>
          <p:nvPr/>
        </p:nvSpPr>
        <p:spPr>
          <a:xfrm>
            <a:off x="1144371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graphicFrame>
        <p:nvGraphicFramePr>
          <p:cNvPr id="41" name="Chart: FY25 revenue by customer type (deck basis)"/>
          <p:cNvGraphicFramePr>
            <a:graphicFrameLocks noGrp="1"/>
          </p:cNvGraphicFramePr>
          <p:nvPr/>
        </p:nvGraphicFramePr>
        <p:xfrm>
          <a:off x="7589520" y="1682496"/>
          <a:ext cx="4206240" cy="41056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7589520" y="5788152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950" b="0" i="1">
                <a:solidFill>
                  <a:srgbClr val="595959"/>
                </a:solidFill>
                <a:latin typeface="Arial"/>
              </a:rPr>
              <a:t>Filing basis differs: dealers ~60%, OEMs ~10% (10A p.299).</a:t>
            </a:r>
          </a:p>
        </p:txBody>
      </p:sp>
      <p:sp>
        <p:nvSpPr>
          <p:cNvPr id="43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canonical/primary.csv; extraction/segments_kpi.csv (10A p.262-263, 358-361, 462-463); extraction/presentations.csv (ID s.10); analysis/QUALITATIVE.md §1-3</a:t>
            </a:r>
          </a:p>
        </p:txBody>
      </p:sp>
      <p:sp>
        <p:nvSpPr>
          <p:cNvPr id="44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HISTORY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Four ownership eras since 2013: every change of owner breaks the comparability of the numbers</a:t>
            </a:r>
          </a:p>
        </p:txBody>
      </p:sp>
      <p:sp>
        <p:nvSpPr>
          <p:cNvPr id="4" name="Era IHS / IHS Markit: Tr"/>
          <p:cNvSpPr/>
          <p:nvPr/>
        </p:nvSpPr>
        <p:spPr>
          <a:xfrm>
            <a:off x="411480" y="2880360"/>
            <a:ext cx="7440440" cy="40233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IHS / IHS Markit: Transportation segment (FY14-FY21, Nov FYE)</a:t>
            </a:r>
          </a:p>
        </p:txBody>
      </p:sp>
      <p:sp>
        <p:nvSpPr>
          <p:cNvPr id="5" name="Era S&amp;P Global: Mobility"/>
          <p:cNvSpPr/>
          <p:nvPr/>
        </p:nvSpPr>
        <p:spPr>
          <a:xfrm>
            <a:off x="7851920" y="2880360"/>
            <a:ext cx="3130677" cy="40233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S&amp;P Global: Mobility segment (FY22-FY25)</a:t>
            </a:r>
          </a:p>
        </p:txBody>
      </p:sp>
      <p:sp>
        <p:nvSpPr>
          <p:cNvPr id="6" name="Era MBGL"/>
          <p:cNvSpPr/>
          <p:nvPr/>
        </p:nvSpPr>
        <p:spPr>
          <a:xfrm>
            <a:off x="10982597" y="2880360"/>
            <a:ext cx="813163" cy="40233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MBGL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323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3486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6649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9811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2974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6137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9300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2463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5626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8789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1951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5114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08277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33009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2027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" y="2514600"/>
            <a:ext cx="0" cy="36576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65760" y="2834640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011680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b"/>
          <a:lstStyle/>
          <a:p>
            <a:pPr algn="l"/>
            <a:r>
              <a:rPr sz="1000" b="1" i="0">
                <a:solidFill>
                  <a:srgbClr val="1F3864"/>
                </a:solidFill>
                <a:latin typeface="Arial"/>
              </a:rPr>
              <a:t>2013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IHS buys R.L. Polk, incl. CARFAX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10310" y="3282696"/>
            <a:ext cx="0" cy="292608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764590" y="3236976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7330" y="3575304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Dec-2015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CARPROOF (Canada), $459m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98208" y="2514600"/>
            <a:ext cx="0" cy="36576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252488" y="2834640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15228" y="2011680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b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Jul-2016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IHS / Markit merger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33345" y="3282696"/>
            <a:ext cx="0" cy="86868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187625" y="3236976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50365" y="4151376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Sep-2017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automotiveMastermind (78%)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22304" y="2514600"/>
            <a:ext cx="0" cy="36576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976584" y="2834640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9324" y="2011680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b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Dec-2019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Aerospace &amp; Defense sold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51920" y="3282696"/>
            <a:ext cx="0" cy="292608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806200" y="3236976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68940" y="3575304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Feb-2022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S&amp;P Global / IHS Markit merger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40688" y="2514600"/>
            <a:ext cx="0" cy="36576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594968" y="2834640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7708" y="2011680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b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Feb-2023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Market Scan acquired ($223m)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437778" y="3282696"/>
            <a:ext cx="0" cy="86868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392058" y="3236976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54798" y="4151376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/>
              </a:rPr>
              <a:t>Apr-2025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Spin announced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307862" y="2514600"/>
            <a:ext cx="0" cy="36576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1262142" y="2834640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800" y="2011680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b"/>
          <a:lstStyle/>
          <a:p>
            <a:pPr algn="r"/>
            <a:r>
              <a:rPr sz="1000" b="1" i="0">
                <a:solidFill>
                  <a:srgbClr val="1F3864"/>
                </a:solidFill>
                <a:latin typeface="Arial"/>
              </a:rPr>
              <a:t>May-2026</a:t>
            </a:r>
          </a:p>
          <a:p>
            <a:pPr algn="r"/>
            <a:r>
              <a:rPr sz="1000" b="0" i="0">
                <a:solidFill>
                  <a:srgbClr val="262626"/>
                </a:solidFill>
                <a:latin typeface="Arial"/>
              </a:rPr>
              <a:t>Form 10/A; $2.0bn notes issued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389179" y="3282696"/>
            <a:ext cx="0" cy="292608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1343459" y="3236976"/>
            <a:ext cx="91440" cy="914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9800" y="3575304"/>
            <a:ext cx="19659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1000" b="1" i="0">
                <a:solidFill>
                  <a:srgbClr val="1F3864"/>
                </a:solidFill>
                <a:latin typeface="Arial"/>
              </a:rPr>
              <a:t>Jul-1-2026</a:t>
            </a:r>
          </a:p>
          <a:p>
            <a:pPr algn="r"/>
            <a:r>
              <a:rPr sz="1000" b="0" i="0">
                <a:solidFill>
                  <a:srgbClr val="262626"/>
                </a:solidFill>
                <a:latin typeface="Arial"/>
              </a:rPr>
              <a:t>Distribution; NYSE: MBGL</a:t>
            </a:r>
          </a:p>
        </p:txBody>
      </p:sp>
      <p:graphicFrame>
        <p:nvGraphicFramePr>
          <p:cNvPr id="52" name="Table"/>
          <p:cNvGraphicFramePr>
            <a:graphicFrameLocks noGrp="1"/>
          </p:cNvGraphicFramePr>
          <p:nvPr/>
        </p:nvGraphicFramePr>
        <p:xfrm>
          <a:off x="411480" y="4846320"/>
          <a:ext cx="11384280" cy="12801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28800"/>
                <a:gridCol w="2834640"/>
                <a:gridCol w="3291840"/>
                <a:gridCol w="342900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Series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Period / basis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Why it is not comparable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Where used in this deck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IHS Transportation [D]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FY14-FY21, Nov FYE, IHS Adj. EBITDA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Includes Maritime &amp; Trade; Jane's to 2019; automotive ~80% to &gt;90%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Slide 7 only (separate chart)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SPGI Mobility [D]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FY22 (~10 months) to FY25, adj. OP margin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Different margin measure; FY22 partial year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Guidance scorecard (slide 15)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Carve-out [D]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FY23-FY25 + 6M, Form 10/A and 10-Q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Includes ~$100m of S&amp;P allocations; Adj. EBITDA definition changed Q2-26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Core financial slides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analysis/QUALITATIVE.md §11; deliverables/PART_A_SUMMARY.md (structural breaks); extraction/predecessor_NOTES.md; analysis/SYNTHESIS.md (caveats)</a:t>
            </a:r>
          </a:p>
        </p:txBody>
      </p:sp>
      <p:sp>
        <p:nvSpPr>
          <p:cNvPr id="54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SEGMENTS &amp; REVENUE MIX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CARFAX is two-thirds of revenue and has grown 2-3x faster than B2B, at a 15pt higher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Revenue by segment, $m</a:t>
            </a:r>
          </a:p>
        </p:txBody>
      </p:sp>
      <p:sp>
        <p:nvSpPr>
          <p:cNvPr id="5" name="Tier tag D"/>
          <p:cNvSpPr/>
          <p:nvPr/>
        </p:nvSpPr>
        <p:spPr>
          <a:xfrm>
            <a:off x="563727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graphicFrame>
        <p:nvGraphicFramePr>
          <p:cNvPr id="6" name="Chart: Revenue by segment, $m"/>
          <p:cNvGraphicFramePr>
            <a:graphicFrameLocks noGrp="1"/>
          </p:cNvGraphicFramePr>
          <p:nvPr/>
        </p:nvGraphicFramePr>
        <p:xfrm>
          <a:off x="411480" y="1682496"/>
          <a:ext cx="5577840" cy="33467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37160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CARFAX FY25 revenue by product (deck, sums to 101%)</a:t>
            </a:r>
          </a:p>
        </p:txBody>
      </p:sp>
      <p:sp>
        <p:nvSpPr>
          <p:cNvPr id="8" name="Tier tag D"/>
          <p:cNvSpPr/>
          <p:nvPr/>
        </p:nvSpPr>
        <p:spPr>
          <a:xfrm>
            <a:off x="1144371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graphicFrame>
        <p:nvGraphicFramePr>
          <p:cNvPr id="9" name="Chart: CARFAX FY25 revenue by product (deck, sums to 101%)"/>
          <p:cNvGraphicFramePr>
            <a:graphicFrameLocks noGrp="1"/>
          </p:cNvGraphicFramePr>
          <p:nvPr/>
        </p:nvGraphicFramePr>
        <p:xfrm>
          <a:off x="6217920" y="1682496"/>
          <a:ext cx="557784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6217920" y="3840480"/>
          <a:ext cx="5577840" cy="1234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Segment  [C]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Growth FY24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Growth FY25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Growth 6M-26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Adj. EBITDA margin FY25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CARFAX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+9.9%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+8.2%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46.9%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B2B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+3.1%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+5.9%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+6.1%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32.4%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Callout"/>
          <p:cNvSpPr/>
          <p:nvPr/>
        </p:nvSpPr>
        <p:spPr>
          <a:xfrm>
            <a:off x="411480" y="5212080"/>
            <a:ext cx="11384280" cy="868680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150" b="0" i="0">
                <a:solidFill>
                  <a:srgbClr val="1F3864"/>
                </a:solidFill>
                <a:latin typeface="Arial"/>
              </a:rPr>
              <a:t>B2B is 74% Marketing &amp; Sales (aM, Polk audiences, Market Scan) and 26% Strategy &amp; Planning [D, deck s.34]. Revenue by brand, product or B2B line is not in the filings. CARFAX margin rose from 45.5% to 48.0% (6M-26); B2B's fell from 35.4% to 32.4% in FY25 [C].</a:t>
            </a:r>
          </a:p>
        </p:txBody>
      </p:sp>
      <p:sp>
        <p:nvSpPr>
          <p:cNvPr id="12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extraction/segments_kpi.csv (10A p.359-361, 461-462; 10Q p.14); extraction/presentations.csv (ID s.34, s.57); analysis/D2_unit_economics.md (d)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FINANCIAL HISTORY: CARVE-OUT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Carve-out revenue compounded 8.6% and Adj. EBITDA 9.0% over FY23-25, with the margin flat at ~40-42%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Revenue and Adj. EBITDA, $m (carve-out, company definition)</a:t>
            </a:r>
          </a:p>
        </p:txBody>
      </p:sp>
      <p:sp>
        <p:nvSpPr>
          <p:cNvPr id="5" name="Tier tag D"/>
          <p:cNvSpPr/>
          <p:nvPr/>
        </p:nvSpPr>
        <p:spPr>
          <a:xfrm>
            <a:off x="682599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graphicFrame>
        <p:nvGraphicFramePr>
          <p:cNvPr id="6" name="Chart: Revenue and Adj. EBITDA, $m (carve-out, company defin"/>
          <p:cNvGraphicFramePr>
            <a:graphicFrameLocks noGrp="1"/>
          </p:cNvGraphicFramePr>
          <p:nvPr/>
        </p:nvGraphicFramePr>
        <p:xfrm>
          <a:off x="411480" y="1682496"/>
          <a:ext cx="6766560" cy="36210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371600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Adj. EBITDA margin, %</a:t>
            </a:r>
          </a:p>
        </p:txBody>
      </p:sp>
      <p:sp>
        <p:nvSpPr>
          <p:cNvPr id="8" name="Tier tag C"/>
          <p:cNvSpPr/>
          <p:nvPr/>
        </p:nvSpPr>
        <p:spPr>
          <a:xfrm>
            <a:off x="1144371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graphicFrame>
        <p:nvGraphicFramePr>
          <p:cNvPr id="9" name="Chart: Adj. EBITDA margin, %"/>
          <p:cNvGraphicFramePr>
            <a:graphicFrameLocks noGrp="1"/>
          </p:cNvGraphicFramePr>
          <p:nvPr/>
        </p:nvGraphicFramePr>
        <p:xfrm>
          <a:off x="7406640" y="1682496"/>
          <a:ext cx="4389120" cy="36210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Callout"/>
          <p:cNvSpPr/>
          <p:nvPr/>
        </p:nvSpPr>
        <p:spPr>
          <a:xfrm>
            <a:off x="411480" y="5440680"/>
            <a:ext cx="11384280" cy="640080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100" b="0" i="0">
                <a:solidFill>
                  <a:srgbClr val="1F3864"/>
                </a:solidFill>
                <a:latin typeface="Arial"/>
              </a:rPr>
              <a:t>GAAP operating profit is only $339m (FY25) because ~$296m/yr of IHS Markit purchase amortization is pushed down. 6M-26 net income fell to $108m (-12%) on $57m of stand-up transaction costs. Q2-26 measure: 6 exclusions vs 10 at FY [D].</a:t>
            </a:r>
          </a:p>
        </p:txBody>
      </p:sp>
      <p:sp>
        <p:nvSpPr>
          <p:cNvPr id="11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canonical/primary.csv (IS.revenue); extraction/segments_kpi.csv (10A p.358 Adj. EBITDA recon; 10Q p.15 Note 7); deliverables/PART_A_SUMMARY.md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FINANCIAL HISTORY: PREDECESSOR (NON-COMPARABLE)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The IHS-era Transportation segment compounded revenue 10.8% to FY21, but on a broader scope that cannot be spliced to the carve-out</a:t>
            </a:r>
          </a:p>
        </p:txBody>
      </p:sp>
      <p:sp>
        <p:nvSpPr>
          <p:cNvPr id="4" name="Banner"/>
          <p:cNvSpPr/>
          <p:nvPr/>
        </p:nvSpPr>
        <p:spPr>
          <a:xfrm>
            <a:off x="411480" y="1325880"/>
            <a:ext cx="11384280" cy="384048"/>
          </a:xfrm>
          <a:prstGeom prst="rect">
            <a:avLst/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54864" tIns="27432" bIns="27432" wrap="square"/>
          <a:lstStyle/>
          <a:p>
            <a:pPr algn="l"/>
            <a:r>
              <a:rPr sz="1050" b="1" i="0">
                <a:solidFill>
                  <a:srgbClr val="7A4E00"/>
                </a:solidFill>
                <a:latin typeface="Arial"/>
              </a:rPr>
              <a:t>NON-COMPARABLE SERIES: IHS Markit Transportation segment, Nov FYE, includes Maritime &amp; Trade (and Jane's to 2019); IHS Adj. EBITDA definition. Do not splice to slides 6 and 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IHS Transportation revenue and Adj. EBITDA, $m (FY14-FY21)</a:t>
            </a:r>
          </a:p>
        </p:txBody>
      </p:sp>
      <p:sp>
        <p:nvSpPr>
          <p:cNvPr id="6" name="Tier tag D"/>
          <p:cNvSpPr/>
          <p:nvPr/>
        </p:nvSpPr>
        <p:spPr>
          <a:xfrm>
            <a:off x="6825996" y="18653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graphicFrame>
        <p:nvGraphicFramePr>
          <p:cNvPr id="7" name="Chart: IHS Transportation revenue and Adj. EBITDA, $m (FY14-"/>
          <p:cNvGraphicFramePr>
            <a:graphicFrameLocks noGrp="1"/>
          </p:cNvGraphicFramePr>
          <p:nvPr/>
        </p:nvGraphicFramePr>
        <p:xfrm>
          <a:off x="411480" y="2139696"/>
          <a:ext cx="6766560" cy="3255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828800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IHS Adj. EBITDA margin, %</a:t>
            </a:r>
          </a:p>
        </p:txBody>
      </p:sp>
      <p:sp>
        <p:nvSpPr>
          <p:cNvPr id="9" name="Tier tag C"/>
          <p:cNvSpPr/>
          <p:nvPr/>
        </p:nvSpPr>
        <p:spPr>
          <a:xfrm>
            <a:off x="11443716" y="18653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graphicFrame>
        <p:nvGraphicFramePr>
          <p:cNvPr id="10" name="Chart: IHS Adj. EBITDA margin, %"/>
          <p:cNvGraphicFramePr>
            <a:graphicFrameLocks noGrp="1"/>
          </p:cNvGraphicFramePr>
          <p:nvPr/>
        </p:nvGraphicFramePr>
        <p:xfrm>
          <a:off x="7406640" y="2139696"/>
          <a:ext cx="4389120" cy="32552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Callout"/>
          <p:cNvSpPr/>
          <p:nvPr/>
        </p:nvSpPr>
        <p:spPr>
          <a:xfrm>
            <a:off x="411480" y="5486400"/>
            <a:ext cx="11384280" cy="621792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100" b="0" i="0">
                <a:solidFill>
                  <a:srgbClr val="1F3864"/>
                </a:solidFill>
                <a:latin typeface="Arial"/>
              </a:rPr>
              <a:t>Revenue CAGR 10.8%, Adj. EBITDA CAGR 15.6% [C]. The 47.6% FY21 margin does not mean margins later "fell" to ~40%: scope, FYE, allocations and definitions all differ. SPGI Mobility then printed $1,142m (FY22, ~10 months) to $1,747m (FY25) [D].</a:t>
            </a:r>
          </a:p>
        </p:txBody>
      </p:sp>
      <p:sp>
        <p:nvSpPr>
          <p:cNvPr id="12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extraction/predecessor.csv (INFO 10-K FY2016-FY2021 segment notes; SPGI 10-K FY2022-25 Mobility table); extraction/predecessor_NOTES.md; analysis/SYNTHESIS.md (caveats)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FREE CASH FLOW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Cash conversion of 63-65% is structural, but 1H-26 fell to 46% as spin costs and working capital hit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Free cash flow, $m (CFO less capex)</a:t>
            </a:r>
          </a:p>
        </p:txBody>
      </p:sp>
      <p:sp>
        <p:nvSpPr>
          <p:cNvPr id="5" name="Tier tag D"/>
          <p:cNvSpPr/>
          <p:nvPr/>
        </p:nvSpPr>
        <p:spPr>
          <a:xfrm>
            <a:off x="646023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graphicFrame>
        <p:nvGraphicFramePr>
          <p:cNvPr id="6" name="Chart: Free cash flow, $m (CFO less capex)"/>
          <p:cNvGraphicFramePr>
            <a:graphicFrameLocks noGrp="1"/>
          </p:cNvGraphicFramePr>
          <p:nvPr/>
        </p:nvGraphicFramePr>
        <p:xfrm>
          <a:off x="411480" y="1682496"/>
          <a:ext cx="6400800" cy="35753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1371600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FCF conversion (FCF / Adj. EBITDA), %</a:t>
            </a:r>
          </a:p>
        </p:txBody>
      </p:sp>
      <p:sp>
        <p:nvSpPr>
          <p:cNvPr id="8" name="Tier tag C"/>
          <p:cNvSpPr/>
          <p:nvPr/>
        </p:nvSpPr>
        <p:spPr>
          <a:xfrm>
            <a:off x="1144371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graphicFrame>
        <p:nvGraphicFramePr>
          <p:cNvPr id="9" name="Chart: FCF conversion (FCF / Adj. EBITDA), %"/>
          <p:cNvGraphicFramePr>
            <a:graphicFrameLocks noGrp="1"/>
          </p:cNvGraphicFramePr>
          <p:nvPr/>
        </p:nvGraphicFramePr>
        <p:xfrm>
          <a:off x="7040880" y="1682496"/>
          <a:ext cx="4754880" cy="20665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7040880" y="3886200"/>
          <a:ext cx="4754880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822960"/>
                <a:gridCol w="822960"/>
                <a:gridCol w="822960"/>
                <a:gridCol w="82296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[D/C]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FY23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FY24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FY25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6M-26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CFO, $m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Capex, $m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(18)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(15)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(24)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(12)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Capex / revenue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0.9%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allout"/>
          <p:cNvSpPr/>
          <p:nvPr/>
        </p:nvSpPr>
        <p:spPr>
          <a:xfrm>
            <a:off x="411480" y="5394960"/>
            <a:ext cx="11384280" cy="713232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100" b="0" i="0">
                <a:solidFill>
                  <a:srgbClr val="1F3864"/>
                </a:solidFill>
                <a:latin typeface="Arial"/>
              </a:rPr>
              <a:t>FCF margin 25.3% to 26.3% (FY23-25) [C]; there is no capitalized-software asset, so FCF is not flattered. Standalone FCF ~$365m after ~$110m of interest [C/E], before ~$100m of one-time stand-up cash (about half capitalized) [IR].</a:t>
            </a:r>
          </a:p>
        </p:txBody>
      </p:sp>
      <p:sp>
        <p:nvSpPr>
          <p:cNvPr id="12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extraction/segments_kpi.csv (10A p.361 FCF recon; 10Q p.26); canonical/primary.csv (CF.cfo, CF.capex); extraction/presentations.csv (ID s.111); analysis/D2_unit_economics.md (e); analysis/D3_group_decomposition.md §5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CAPITAL STRUCTURE POST-SPIN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$2.0bn of notes lift interest from $13m to ~$110m a year: earnings power changes, cash cover does not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1371600"/>
          <a:ext cx="6675120" cy="21031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6459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Senior notes (issued 2026-05-29)  [D/C]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Principal, $m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Coupon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Annual cash coupon, $m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5.050% due 2029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5.050%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32.8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5.450% due 2031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5.450%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35.4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6.050% due 2036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6.050%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Arial"/>
                        </a:rPr>
                        <a:t>42.4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Total / weighted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5.53%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110.6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KPI 1"/>
          <p:cNvSpPr/>
          <p:nvPr/>
        </p:nvSpPr>
        <p:spPr>
          <a:xfrm>
            <a:off x="7315200" y="1371600"/>
            <a:ext cx="2185416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ier tag IR"/>
          <p:cNvSpPr/>
          <p:nvPr/>
        </p:nvSpPr>
        <p:spPr>
          <a:xfrm>
            <a:off x="9034272" y="1426464"/>
            <a:ext cx="411480" cy="182880"/>
          </a:xfrm>
          <a:prstGeom prst="roundRect">
            <a:avLst>
              <a:gd name="adj" fmla="val 30000"/>
            </a:avLst>
          </a:prstGeom>
          <a:solidFill>
            <a:srgbClr val="5B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[IR]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8352" y="1554480"/>
            <a:ext cx="2039112" cy="34925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2.7x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8352" y="1903730"/>
            <a:ext cx="2039112" cy="44627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Gross leverage at spin (target ~2.5x)</a:t>
            </a:r>
          </a:p>
        </p:txBody>
      </p:sp>
      <p:sp>
        <p:nvSpPr>
          <p:cNvPr id="9" name="KPI 2"/>
          <p:cNvSpPr/>
          <p:nvPr/>
        </p:nvSpPr>
        <p:spPr>
          <a:xfrm>
            <a:off x="9610344" y="1371600"/>
            <a:ext cx="2185416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" name="Tier tag IR"/>
          <p:cNvSpPr/>
          <p:nvPr/>
        </p:nvSpPr>
        <p:spPr>
          <a:xfrm>
            <a:off x="11329416" y="1426464"/>
            <a:ext cx="411480" cy="182880"/>
          </a:xfrm>
          <a:prstGeom prst="roundRect">
            <a:avLst>
              <a:gd name="adj" fmla="val 30000"/>
            </a:avLst>
          </a:prstGeom>
          <a:solidFill>
            <a:srgbClr val="5B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[IR]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3496" y="1554480"/>
            <a:ext cx="2039112" cy="34925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2.4x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3496" y="1903730"/>
            <a:ext cx="2039112" cy="44627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Net leverage</a:t>
            </a:r>
          </a:p>
        </p:txBody>
      </p:sp>
      <p:sp>
        <p:nvSpPr>
          <p:cNvPr id="13" name="KPI 3"/>
          <p:cNvSpPr/>
          <p:nvPr/>
        </p:nvSpPr>
        <p:spPr>
          <a:xfrm>
            <a:off x="7315200" y="2478024"/>
            <a:ext cx="2185416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ier tag D"/>
          <p:cNvSpPr/>
          <p:nvPr/>
        </p:nvSpPr>
        <p:spPr>
          <a:xfrm>
            <a:off x="9111996" y="2532888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660904"/>
            <a:ext cx="2039112" cy="34925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$186m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3010154"/>
            <a:ext cx="2039112" cy="44627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Cash at 6/30/26</a:t>
            </a:r>
          </a:p>
        </p:txBody>
      </p:sp>
      <p:sp>
        <p:nvSpPr>
          <p:cNvPr id="17" name="KPI 4"/>
          <p:cNvSpPr/>
          <p:nvPr/>
        </p:nvSpPr>
        <p:spPr>
          <a:xfrm>
            <a:off x="9610344" y="2478024"/>
            <a:ext cx="2185416" cy="99669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ier tag D"/>
          <p:cNvSpPr/>
          <p:nvPr/>
        </p:nvSpPr>
        <p:spPr>
          <a:xfrm>
            <a:off x="11407140" y="2532888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3496" y="2660904"/>
            <a:ext cx="2039112" cy="34925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$500m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3010154"/>
            <a:ext cx="2039112" cy="44627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Revolver, undrawn (to 2031)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657600"/>
            <a:ext cx="4663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Net interest as % of operating profit</a:t>
            </a:r>
          </a:p>
        </p:txBody>
      </p:sp>
      <p:sp>
        <p:nvSpPr>
          <p:cNvPr id="22" name="Tier tag C"/>
          <p:cNvSpPr/>
          <p:nvPr/>
        </p:nvSpPr>
        <p:spPr>
          <a:xfrm>
            <a:off x="5545836" y="3694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graphicFrame>
        <p:nvGraphicFramePr>
          <p:cNvPr id="23" name="Chart: Net interest as % of operating profit"/>
          <p:cNvGraphicFramePr>
            <a:graphicFrameLocks noGrp="1"/>
          </p:cNvGraphicFramePr>
          <p:nvPr/>
        </p:nvGraphicFramePr>
        <p:xfrm>
          <a:off x="411480" y="3968496"/>
          <a:ext cx="5486400" cy="2112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126480" y="3657600"/>
            <a:ext cx="5669280" cy="242316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1" i="0">
                <a:solidFill>
                  <a:srgbClr val="1F3864"/>
                </a:solidFill>
                <a:latin typeface="Arial"/>
              </a:rPr>
              <a:t>Use of proceeds: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$2.0bn dividend to S&amp;P Global (the 10/A had said ~$1.9bn) [D].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1" i="0">
                <a:solidFill>
                  <a:srgbClr val="1F3864"/>
                </a:solidFill>
                <a:latin typeface="Arial"/>
              </a:rPr>
              <a:t>Covenants: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revolver max net leverage 3.50x (4.00x step-up); notes not prepayable, so deleveraging relies on EBITDA growth [D/IR].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1" i="0">
                <a:solidFill>
                  <a:srgbClr val="1F3864"/>
                </a:solidFill>
                <a:latin typeface="Arial"/>
              </a:rPr>
              <a:t>Coverage: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FY25 Adj. EBITDA / interest ~6.5x; standalone normalized OP / interest ~3.2x [C].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50" b="1" i="0">
                <a:solidFill>
                  <a:srgbClr val="1F3864"/>
                </a:solidFill>
                <a:latin typeface="Arial"/>
              </a:rPr>
              <a:t>Tax: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~$89m/yr cash tax above provision for ~12 years (IHS DTL) [IR].</a:t>
            </a:r>
          </a:p>
        </p:txBody>
      </p:sp>
      <p:sp>
        <p:nvSpPr>
          <p:cNvPr id="25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extraction/notes.csv (10A p.337); canonical/primary.csv (BS.cash, BS.ltd, IS.int); analysis/D3_group_decomposition.md §3; transcripts/TARGETS_TIMELINE.md; analysis/QUALITATIVE.md §9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MOAT ARCHITECTURE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Six interlocking moat elements; the decades-deep archive is the one a rival cannot buy</a:t>
            </a:r>
          </a:p>
        </p:txBody>
      </p:sp>
      <p:sp>
        <p:nvSpPr>
          <p:cNvPr id="4" name="Card 1"/>
          <p:cNvSpPr/>
          <p:nvPr/>
        </p:nvSpPr>
        <p:spPr>
          <a:xfrm>
            <a:off x="411480" y="1371600"/>
            <a:ext cx="3680460" cy="1478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" name="Tier tag D"/>
          <p:cNvSpPr/>
          <p:nvPr/>
        </p:nvSpPr>
        <p:spPr>
          <a:xfrm>
            <a:off x="3666744" y="1463040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435608"/>
            <a:ext cx="305409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Give-get data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746504"/>
            <a:ext cx="3461004" cy="10485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177k+ sources, many exclusive; ~6m records added a day; 92k+ dealers and shops, 6,300 police agencies, 36 OEMs.</a:t>
            </a:r>
          </a:p>
        </p:txBody>
      </p:sp>
      <p:sp>
        <p:nvSpPr>
          <p:cNvPr id="8" name="Card 2"/>
          <p:cNvSpPr/>
          <p:nvPr/>
        </p:nvSpPr>
        <p:spPr>
          <a:xfrm>
            <a:off x="4229100" y="1371600"/>
            <a:ext cx="3680460" cy="1478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ier tag IR"/>
          <p:cNvSpPr/>
          <p:nvPr/>
        </p:nvSpPr>
        <p:spPr>
          <a:xfrm>
            <a:off x="7406640" y="1463040"/>
            <a:ext cx="411480" cy="201168"/>
          </a:xfrm>
          <a:prstGeom prst="roundRect">
            <a:avLst>
              <a:gd name="adj" fmla="val 30000"/>
            </a:avLst>
          </a:prstGeom>
          <a:solidFill>
            <a:srgbClr val="5B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[IR]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828" y="1435608"/>
            <a:ext cx="2976372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An archive that cannot be rebuilt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8828" y="1746504"/>
            <a:ext cx="3461004" cy="10485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38bn+ records; years of service history "just doesn't exist anymore anywhere else" (Eager, Q2-26).</a:t>
            </a:r>
          </a:p>
        </p:txBody>
      </p:sp>
      <p:sp>
        <p:nvSpPr>
          <p:cNvPr id="12" name="Card 3"/>
          <p:cNvSpPr/>
          <p:nvPr/>
        </p:nvSpPr>
        <p:spPr>
          <a:xfrm>
            <a:off x="411480" y="2987040"/>
            <a:ext cx="3680460" cy="1478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ier tag D"/>
          <p:cNvSpPr/>
          <p:nvPr/>
        </p:nvSpPr>
        <p:spPr>
          <a:xfrm>
            <a:off x="3666744" y="3078480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051048"/>
            <a:ext cx="305409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Two-sided 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361944"/>
            <a:ext cx="3461004" cy="10485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96% in-market awareness; ~2m "Show me the CARFAX" requests a month [X]; $1.5bn of media since 2000.</a:t>
            </a:r>
          </a:p>
        </p:txBody>
      </p:sp>
      <p:sp>
        <p:nvSpPr>
          <p:cNvPr id="16" name="Card 4"/>
          <p:cNvSpPr/>
          <p:nvPr/>
        </p:nvSpPr>
        <p:spPr>
          <a:xfrm>
            <a:off x="4229100" y="2987040"/>
            <a:ext cx="3680460" cy="1478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ier tag D/IR"/>
          <p:cNvSpPr/>
          <p:nvPr/>
        </p:nvSpPr>
        <p:spPr>
          <a:xfrm>
            <a:off x="7251192" y="3078480"/>
            <a:ext cx="566928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[D/IR]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8828" y="3051048"/>
            <a:ext cx="282092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OEM lock-in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8828" y="3361944"/>
            <a:ext cx="3461004" cy="10485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36 OEM CPO programs require the report; 100% of the top-40 carmakers buy MBGL data.</a:t>
            </a:r>
          </a:p>
        </p:txBody>
      </p:sp>
      <p:sp>
        <p:nvSpPr>
          <p:cNvPr id="20" name="Card 5"/>
          <p:cNvSpPr/>
          <p:nvPr/>
        </p:nvSpPr>
        <p:spPr>
          <a:xfrm>
            <a:off x="411480" y="4602480"/>
            <a:ext cx="3680460" cy="1478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ier tag D"/>
          <p:cNvSpPr/>
          <p:nvPr/>
        </p:nvSpPr>
        <p:spPr>
          <a:xfrm>
            <a:off x="3666744" y="4693920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666488"/>
            <a:ext cx="305409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Workflow 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977384"/>
            <a:ext cx="3461004" cy="10485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95 dealer-tool integrations; 17 of the top-20 banks and insurers; Market Scan in ~10,500 dealerships.</a:t>
            </a:r>
          </a:p>
        </p:txBody>
      </p:sp>
      <p:sp>
        <p:nvSpPr>
          <p:cNvPr id="24" name="Card 6"/>
          <p:cNvSpPr/>
          <p:nvPr/>
        </p:nvSpPr>
        <p:spPr>
          <a:xfrm>
            <a:off x="4229100" y="4602480"/>
            <a:ext cx="3680460" cy="1478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ier tag D"/>
          <p:cNvSpPr/>
          <p:nvPr/>
        </p:nvSpPr>
        <p:spPr>
          <a:xfrm>
            <a:off x="7484364" y="4693920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8828" y="4666488"/>
            <a:ext cx="305409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Polk registration data (B2B)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8828" y="4977384"/>
            <a:ext cx="3461004" cy="10485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DMV-sourced under the DPPA; 13bn+ transaction records. Moderate moat: Experian and GlobalData offer low-cost alternatives.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37160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CARFAX VH records, bn</a:t>
            </a:r>
          </a:p>
        </p:txBody>
      </p:sp>
      <p:sp>
        <p:nvSpPr>
          <p:cNvPr id="29" name="Tier tag D"/>
          <p:cNvSpPr/>
          <p:nvPr/>
        </p:nvSpPr>
        <p:spPr>
          <a:xfrm>
            <a:off x="1144371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graphicFrame>
        <p:nvGraphicFramePr>
          <p:cNvPr id="30" name="Chart: CARFAX VH records, bn"/>
          <p:cNvGraphicFramePr>
            <a:graphicFrameLocks noGrp="1"/>
          </p:cNvGraphicFramePr>
          <p:nvPr/>
        </p:nvGraphicFramePr>
        <p:xfrm>
          <a:off x="8138160" y="1682496"/>
          <a:ext cx="3657600" cy="25694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Panel"/>
          <p:cNvSpPr/>
          <p:nvPr/>
        </p:nvSpPr>
        <p:spPr>
          <a:xfrm>
            <a:off x="8138160" y="438912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462272"/>
            <a:ext cx="3429000" cy="160020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Verdict: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wide moat in CARFAX, moderate in B2B [Inference].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Widening: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records +9.3%/yr and sources +6.5%/yr FY16-25 [C].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Weak spot: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ad spend +31% vs revenue +18% (FY23-25) [C].</a:t>
            </a:r>
          </a:p>
        </p:txBody>
      </p:sp>
      <p:sp>
        <p:nvSpPr>
          <p:cNvPr id="33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analysis/D1_moat.md §2, §6; extraction/segments_kpi.csv (10A p.262-272); extraction/predecessor.csv (INFO 10-K FY16/18/19/21 data scale); extraction/presentations.csv (ID s.18, s.66, s.67); transcripts/MBGL_2026-08-07_q2-2026-earnings-call.md</a:t>
            </a:r>
          </a:p>
        </p:txBody>
      </p:sp>
      <p:sp>
        <p:nvSpPr>
          <p:cNvPr id="34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DATA NETWORK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One VIN-level record, fed by 177k contributors and monetized four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50" b="1" i="0">
                <a:solidFill>
                  <a:srgbClr val="0E7C86"/>
                </a:solidFill>
                <a:latin typeface="Arial"/>
              </a:rPr>
              <a:t>DATA CONTRIBUTORS (give)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4860" y="137160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50" b="1" i="0">
                <a:solidFill>
                  <a:srgbClr val="0E7C86"/>
                </a:solidFill>
                <a:latin typeface="Arial"/>
              </a:rPr>
              <a:t>CARFAX / POLK 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37160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50" b="1" i="0">
                <a:solidFill>
                  <a:srgbClr val="0E7C86"/>
                </a:solidFill>
                <a:latin typeface="Arial"/>
              </a:rPr>
              <a:t>WHO PAYS / USES (get)</a:t>
            </a:r>
          </a:p>
        </p:txBody>
      </p:sp>
      <p:sp>
        <p:nvSpPr>
          <p:cNvPr id="7" name="left node 1"/>
          <p:cNvSpPr/>
          <p:nvPr/>
        </p:nvSpPr>
        <p:spPr>
          <a:xfrm>
            <a:off x="411480" y="1719072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54864" tIns="27432" bIns="27432" wrap="square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Dealers and service shops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92,000+ in the network [D]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94176" y="2093976"/>
            <a:ext cx="845820" cy="809244"/>
          </a:xfrm>
          <a:prstGeom prst="line">
            <a:avLst/>
          </a:prstGeom>
          <a:ln w="22225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eft node 2"/>
          <p:cNvSpPr/>
          <p:nvPr/>
        </p:nvSpPr>
        <p:spPr>
          <a:xfrm>
            <a:off x="411480" y="2578608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54864" tIns="27432" bIns="27432" wrap="square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Police agencies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6,300+ data partnerships [D]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94176" y="2953512"/>
            <a:ext cx="845820" cy="269748"/>
          </a:xfrm>
          <a:prstGeom prst="line">
            <a:avLst/>
          </a:prstGeom>
          <a:ln w="22225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ft node 3"/>
          <p:cNvSpPr/>
          <p:nvPr/>
        </p:nvSpPr>
        <p:spPr>
          <a:xfrm>
            <a:off x="411480" y="3438144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54864" tIns="27432" bIns="27432" wrap="square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OEMs (CPO programs)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36 contribute data [D]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94176" y="3543300"/>
            <a:ext cx="845820" cy="269748"/>
          </a:xfrm>
          <a:prstGeom prst="line">
            <a:avLst/>
          </a:prstGeom>
          <a:ln w="22225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eft node 4"/>
          <p:cNvSpPr/>
          <p:nvPr/>
        </p:nvSpPr>
        <p:spPr>
          <a:xfrm>
            <a:off x="411480" y="4297680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54864" tIns="27432" bIns="27432" wrap="square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DMVs / governments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DPPA custodian for 30+ years [D]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94176" y="3863340"/>
            <a:ext cx="845820" cy="809244"/>
          </a:xfrm>
          <a:prstGeom prst="line">
            <a:avLst/>
          </a:prstGeom>
          <a:ln w="22225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node 1"/>
          <p:cNvSpPr/>
          <p:nvPr/>
        </p:nvSpPr>
        <p:spPr>
          <a:xfrm>
            <a:off x="8549640" y="1719072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54864" tIns="27432" bIns="27432" wrap="square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Dealers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40,000+ CARFAX customers; ~60% of revenue [D]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667244" y="2093976"/>
            <a:ext cx="845820" cy="809244"/>
          </a:xfrm>
          <a:prstGeom prst="line">
            <a:avLst/>
          </a:prstGeom>
          <a:ln w="22225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node 2"/>
          <p:cNvSpPr/>
          <p:nvPr/>
        </p:nvSpPr>
        <p:spPr>
          <a:xfrm>
            <a:off x="8549640" y="2578608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54864" tIns="27432" bIns="27432" wrap="square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Consumers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~23m monthly visitors; 28m+ report views/mo [D]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667244" y="2953512"/>
            <a:ext cx="845820" cy="269748"/>
          </a:xfrm>
          <a:prstGeom prst="line">
            <a:avLst/>
          </a:prstGeom>
          <a:ln w="22225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node 3"/>
          <p:cNvSpPr/>
          <p:nvPr/>
        </p:nvSpPr>
        <p:spPr>
          <a:xfrm>
            <a:off x="8549640" y="3438144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54864" tIns="27432" bIns="27432" wrap="square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OEMs and suppliers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100% of top-40 carmakers; ~10% of revenue [D]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67244" y="3543300"/>
            <a:ext cx="845820" cy="269748"/>
          </a:xfrm>
          <a:prstGeom prst="line">
            <a:avLst/>
          </a:prstGeom>
          <a:ln w="22225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ight node 4"/>
          <p:cNvSpPr/>
          <p:nvPr/>
        </p:nvSpPr>
        <p:spPr>
          <a:xfrm>
            <a:off x="8549640" y="4297680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54864" tIns="27432" bIns="27432" wrap="square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/>
              </a:rPr>
              <a:t>Lenders and insurers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17 of top-20; underwriting +$13m FY25 [D]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67244" y="3863340"/>
            <a:ext cx="845820" cy="809244"/>
          </a:xfrm>
          <a:prstGeom prst="line">
            <a:avLst/>
          </a:prstGeom>
          <a:ln w="22225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chive node"/>
          <p:cNvSpPr/>
          <p:nvPr/>
        </p:nvSpPr>
        <p:spPr>
          <a:xfrm>
            <a:off x="4594860" y="1719072"/>
            <a:ext cx="3017520" cy="3328416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VIN-keyed archive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177,000+ sources [D]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38bn+ vehicle history records [D]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13bn+ transaction records [D]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~832m unique VINs [D]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2,000+ attributes per vehicle [D]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~6m records added a day [D]</a:t>
            </a:r>
          </a:p>
        </p:txBody>
      </p:sp>
      <p:sp>
        <p:nvSpPr>
          <p:cNvPr id="24" name="Feedback loop arrow"/>
          <p:cNvSpPr/>
          <p:nvPr/>
        </p:nvSpPr>
        <p:spPr>
          <a:xfrm>
            <a:off x="411480" y="5175504"/>
            <a:ext cx="11384280" cy="457200"/>
          </a:xfrm>
          <a:prstGeom prst="leftArrow">
            <a:avLst>
              <a:gd name="adj1" fmla="val 62000"/>
              <a:gd name="adj2" fmla="val 35000"/>
            </a:avLst>
          </a:prstGeom>
          <a:solidFill>
            <a:srgbClr val="D5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 i="0">
                <a:solidFill>
                  <a:srgbClr val="1F3864"/>
                </a:solidFill>
                <a:latin typeface="Arial"/>
              </a:rPr>
              <a:t>Give-get loop: shops receive Car Care traffic (53m+ users) and dealers receive consumer trust in return for their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669280"/>
            <a:ext cx="1138428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/>
            <a:r>
              <a:rPr sz="1100" b="0" i="1">
                <a:solidFill>
                  <a:srgbClr val="1F3864"/>
                </a:solidFill>
                <a:latin typeface="Arial"/>
              </a:rPr>
              <a:t>“Every one of those 177,000 sources are contractual relationships that are slow to replicate.”</a:t>
            </a:r>
            <a:r>
              <a:rPr sz="950" b="0" i="0">
                <a:solidFill>
                  <a:srgbClr val="595959"/>
                </a:solidFill>
                <a:latin typeface="Arial"/>
              </a:rPr>
              <a:t>   Jeremy Morehouse (Head of AI Office), Investor Day, 2026-05-12</a:t>
            </a:r>
          </a:p>
        </p:txBody>
      </p:sp>
      <p:sp>
        <p:nvSpPr>
          <p:cNvPr id="26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extraction/segments_kpi.csv (10A p.262-272, 340, 349); analysis/QUALITATIVE.md §1-4; analysis/D1_moat.md §2; transcripts/MBGL_2026-05-12_investor-day.md</a:t>
            </a:r>
          </a:p>
        </p:txBody>
      </p:sp>
      <p:sp>
        <p:nvSpPr>
          <p:cNvPr id="27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VALUE PROPOSITION BY CUSTOMER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The consumer creates the pricing power; the dealer, OEM and lender pay for it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1371600"/>
          <a:ext cx="11384280" cy="40690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00200"/>
                <a:gridCol w="1325880"/>
                <a:gridCol w="2743200"/>
                <a:gridCol w="2971800"/>
                <a:gridCol w="2743200"/>
              </a:tblGrid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Customer  [D/IR]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Share of revenue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they care about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MBGL sells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Evidence (tier)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864"/>
                          </a:solidFill>
                          <a:latin typeface="Arial"/>
                        </a:rPr>
                        <a:t>Dealers (40k+ CARFAX customers)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~60% filing; 62% deck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Inventory turn and gross; consumer trust at the point of sale; service retention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Advantage VHR, Listings, Car Care / For Life, Showroom; aM (3,200 dealers); Market Scan (~10,500)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Claimed 10-15x ROI, ~9% faster turn (2023 internal study) [IR]; 1.5-2 products per dealer [IR]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864"/>
                          </a:solidFill>
                          <a:latin typeface="Arial"/>
                        </a:rPr>
                        <a:t>OEMs and suppliers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~10% OEM filing; 20% OEM &amp; supplier deck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Share, loyalty, incentive efficiency; recall reach; production planning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Polk reporting and audiences; Recall; Data Studio; Planning forecasts (195 analysts); CARFAX in 36 CPO programs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100% of top-40 carmakers, 94% of top-100 suppliers [D]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864"/>
                          </a:solidFill>
                          <a:latin typeface="Arial"/>
                        </a:rPr>
                        <a:t>Lenders and insurers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Part of 18% (deck)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Collateral value, underwriting risk, fraud; VIN decoding at scale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CARFAX BIG valuations; VIN Solutions APIs; DPPA-governed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17 of top-20 banks and insurers [D]; underwriting +$17m FY24, +$13m FY25 [D]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864"/>
                          </a:solidFill>
                          <a:latin typeface="Arial"/>
                        </a:rPr>
                        <a:t>Consumers (mostly not payers)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Small: pay-per-report, not disclosed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Avoiding a bad used car; service reminders; resale value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VHR (usually free via the dealer); Car Care app; Listings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i="0">
                          <a:solidFill>
                            <a:srgbClr val="262626"/>
                          </a:solidFill>
                          <a:latin typeface="Arial"/>
                        </a:rPr>
                        <a:t>96% awareness [D]; 53m+ Car Care users [D]; ~23m monthly US visitors [D]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Callout"/>
          <p:cNvSpPr/>
          <p:nvPr/>
        </p:nvSpPr>
        <p:spPr>
          <a:xfrm>
            <a:off x="411480" y="5532120"/>
            <a:ext cx="11384280" cy="566928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100" b="0" i="0">
                <a:solidFill>
                  <a:srgbClr val="1F3864"/>
                </a:solidFill>
                <a:latin typeface="Arial"/>
              </a:rPr>
              <a:t>One dataset monetized four ways. Caveat: most value proof (ROI, turn, default reduction) comes from company studies; no ARPU, retention or churn is disclosed.</a:t>
            </a:r>
          </a:p>
        </p:txBody>
      </p:sp>
      <p:sp>
        <p:nvSpPr>
          <p:cNvPr id="6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analysis/D6_value_prop.md §1; extraction/segments_kpi.csv (10A p.263-272, 349); extraction/presentations.csv (ID s.10, s.68); analysis/K_session_tables.md (D6)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UNIT ECONOMICS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Segment margins and flow-through are disclosed; price per rooftop, retention and churn are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52120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Incremental Adj. EBITDA flow-through (ΔAdj. EBITDA / Δrevenue), %</a:t>
            </a:r>
          </a:p>
        </p:txBody>
      </p:sp>
      <p:sp>
        <p:nvSpPr>
          <p:cNvPr id="5" name="Tier tag C"/>
          <p:cNvSpPr/>
          <p:nvPr/>
        </p:nvSpPr>
        <p:spPr>
          <a:xfrm>
            <a:off x="6094476" y="140817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graphicFrame>
        <p:nvGraphicFramePr>
          <p:cNvPr id="6" name="Chart: Incremental Adj. EBITDA flow-through (ΔAdj. EBITDA / "/>
          <p:cNvGraphicFramePr>
            <a:graphicFrameLocks noGrp="1"/>
          </p:cNvGraphicFramePr>
          <p:nvPr/>
        </p:nvGraphicFramePr>
        <p:xfrm>
          <a:off x="411480" y="1682496"/>
          <a:ext cx="6035040" cy="3255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KPI 1"/>
          <p:cNvSpPr/>
          <p:nvPr/>
        </p:nvSpPr>
        <p:spPr>
          <a:xfrm>
            <a:off x="411480" y="5074920"/>
            <a:ext cx="1938528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ier tag C"/>
          <p:cNvSpPr/>
          <p:nvPr/>
        </p:nvSpPr>
        <p:spPr>
          <a:xfrm>
            <a:off x="1961388" y="512978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5257800"/>
            <a:ext cx="1792224" cy="28575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~$17.1k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5543550"/>
            <a:ext cx="1792224" cy="51892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Advantage + Listings per dealer customer / yr</a:t>
            </a:r>
          </a:p>
        </p:txBody>
      </p:sp>
      <p:sp>
        <p:nvSpPr>
          <p:cNvPr id="11" name="KPI 2"/>
          <p:cNvSpPr/>
          <p:nvPr/>
        </p:nvSpPr>
        <p:spPr>
          <a:xfrm>
            <a:off x="2459736" y="5074920"/>
            <a:ext cx="1938528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" name="Tier tag C"/>
          <p:cNvSpPr/>
          <p:nvPr/>
        </p:nvSpPr>
        <p:spPr>
          <a:xfrm>
            <a:off x="4009644" y="512978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5257800"/>
            <a:ext cx="1792224" cy="28575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~$10.8k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5543550"/>
            <a:ext cx="1792224" cy="51892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Advantage alone per dealer customer / yr</a:t>
            </a:r>
          </a:p>
        </p:txBody>
      </p:sp>
      <p:sp>
        <p:nvSpPr>
          <p:cNvPr id="15" name="KPI 3"/>
          <p:cNvSpPr/>
          <p:nvPr/>
        </p:nvSpPr>
        <p:spPr>
          <a:xfrm>
            <a:off x="4507992" y="5074920"/>
            <a:ext cx="1938528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6" name="Tier tag C"/>
          <p:cNvSpPr/>
          <p:nvPr/>
        </p:nvSpPr>
        <p:spPr>
          <a:xfrm>
            <a:off x="6057900" y="512978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5257800"/>
            <a:ext cx="1792224" cy="28575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&lt;=$28.6k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5543550"/>
            <a:ext cx="1792224" cy="51892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All CARFAX revenue per dealer (upper bound)</a:t>
            </a:r>
          </a:p>
        </p:txBody>
      </p:sp>
      <p:sp>
        <p:nvSpPr>
          <p:cNvPr id="19" name="left column panel"/>
          <p:cNvSpPr/>
          <p:nvPr/>
        </p:nvSpPr>
        <p:spPr>
          <a:xfrm>
            <a:off x="6675120" y="1371600"/>
            <a:ext cx="2468880" cy="4709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" name="left column header"/>
          <p:cNvSpPr/>
          <p:nvPr/>
        </p:nvSpPr>
        <p:spPr>
          <a:xfrm>
            <a:off x="6675120" y="1371600"/>
            <a:ext cx="2468880" cy="3657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Disclosed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847088"/>
            <a:ext cx="2286000" cy="416052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Segment revenue, Adj. EBITDA, subscription split</a:t>
            </a:r>
          </a:p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Dealer customer count (40k+, a floor)</a:t>
            </a:r>
          </a:p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Price vs new-business $ (10-Q, from Q2-26)</a:t>
            </a:r>
          </a:p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Capex 0.9-1.4% of revenue</a:t>
            </a:r>
          </a:p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RPO $102m (6/30/26): ~5.5% of FY25 subscription revenue</a:t>
            </a:r>
          </a:p>
        </p:txBody>
      </p:sp>
      <p:sp>
        <p:nvSpPr>
          <p:cNvPr id="22" name="right column panel"/>
          <p:cNvSpPr/>
          <p:nvPr/>
        </p:nvSpPr>
        <p:spPr>
          <a:xfrm>
            <a:off x="9326880" y="1371600"/>
            <a:ext cx="2468880" cy="4709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" name="right column header"/>
          <p:cNvSpPr/>
          <p:nvPr/>
        </p:nvSpPr>
        <p:spPr>
          <a:xfrm>
            <a:off x="9326880" y="1371600"/>
            <a:ext cx="2468880" cy="36576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Not disclosed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847088"/>
            <a:ext cx="2286000" cy="416052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Price per location (the 10/A's own revenue driver)</a:t>
            </a:r>
          </a:p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Enrolled locations over time</a:t>
            </a:r>
          </a:p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NRR (pulled), gross retention, churn</a:t>
            </a:r>
          </a:p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Report volumes, consumer price</a:t>
            </a:r>
          </a:p>
          <a:p>
            <a:pPr marL="155448" indent="-155448"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Arial"/>
              </a:rPr>
              <a:t>Brand / country P&amp;L; Europe losses</a:t>
            </a:r>
          </a:p>
        </p:txBody>
      </p:sp>
      <p:sp>
        <p:nvSpPr>
          <p:cNvPr id="25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extraction/segments_kpi.csv (10A p.359-360; 10Q p.10, 14); extraction/presentations.csv (ID s.57); analysis/D2_unit_economics.md (a), (c), (d); analysis/K_session_tables.md (D2)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EARNINGS POWER: STANDALONE BRIDGE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Standalone normalized NI is ~$171m (~$0.58/share), not $220m, so the "25%" payout is really ~34-44%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6492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FY25 carve-out NI to standalone normalized NI, $m</a:t>
            </a:r>
          </a:p>
        </p:txBody>
      </p:sp>
      <p:sp>
        <p:nvSpPr>
          <p:cNvPr id="5" name="Tier tag C/E"/>
          <p:cNvSpPr/>
          <p:nvPr/>
        </p:nvSpPr>
        <p:spPr>
          <a:xfrm>
            <a:off x="7219188" y="1408176"/>
            <a:ext cx="489204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[C/E]</a:t>
            </a:r>
          </a:p>
        </p:txBody>
      </p:sp>
      <p:graphicFrame>
        <p:nvGraphicFramePr>
          <p:cNvPr id="6" name="Chart: standalone NI bridge (waterfall)"/>
          <p:cNvGraphicFramePr>
            <a:graphicFrameLocks noGrp="1"/>
          </p:cNvGraphicFramePr>
          <p:nvPr/>
        </p:nvGraphicFramePr>
        <p:xfrm>
          <a:off x="411480" y="1682496"/>
          <a:ext cx="7315200" cy="37124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7955280" y="1371600"/>
          <a:ext cx="3840480" cy="23317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80"/>
                <a:gridCol w="914400"/>
                <a:gridCol w="9144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Per share (294.8m shares)  [D/C]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NI $m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EPS $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FY25 carve-out (illustrative)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Standalone normalized, FY25 base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0.58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Standalone FY26 run-rate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0.71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10-Q printed 6M-26 EPS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0.37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5280" y="3794760"/>
            <a:ext cx="3840480" cy="228600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Dividend: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$0.06 x 4 x 294.8m = $70.8m [C]: 41% of $171m, 34% of $209m.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25% payout needs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~$283m of NI [C]: only if half the after-tax amortization is added back.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Cash is fine: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dividend ~19% of ~$365m standalone FCF [C].</a:t>
            </a:r>
          </a:p>
        </p:txBody>
      </p:sp>
      <p:sp>
        <p:nvSpPr>
          <p:cNvPr id="9" name="Callout"/>
          <p:cNvSpPr/>
          <p:nvPr/>
        </p:nvSpPr>
        <p:spPr>
          <a:xfrm>
            <a:off x="411480" y="5486400"/>
            <a:ext cx="7315200" cy="621792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FY25 Adj. EBITDA identity: CARFAX $536m + B2B $197m - Corporate $22m = $711m [D]. S&amp;P allocations of $112m (FY25) sit mostly inside segment costs [D].</a:t>
            </a:r>
          </a:p>
        </p:txBody>
      </p:sp>
      <p:sp>
        <p:nvSpPr>
          <p:cNvPr id="10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analysis/D3_group_decomposition.md §1, §4, §5; canonical/primary.csv (IS.ni, IS.tax, IS.int, IS.eps_d); extraction/segments_kpi.csv (10A p.359; 10Q p.14)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GUIDANCE VS EXECUTION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Revenue guides were broadly met; margin targets were repeatedly missed, and the FY26 guide was cut 3 months after reaffirmation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1371600"/>
          <a:ext cx="7223760" cy="3429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00200"/>
                <a:gridCol w="1965960"/>
                <a:gridCol w="1188720"/>
                <a:gridCol w="1234440"/>
                <a:gridCol w="1234440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 / item  [D/C]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Initial guide (to final)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FY23 revenue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6.5-8.5% (to 9.0-10.0%)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+10%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E7C86"/>
                          </a:solidFill>
                          <a:latin typeface="Arial"/>
                        </a:rPr>
                        <a:t>Beat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[D]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FY23 margin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39-40% (to 38.5-39.5%)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38.8%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Missed-lowered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adj. OP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FY24 revenue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8.5-10.0% (to 8.0-8.5%)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Missed-lowered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[D]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FY24 margin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39-40% (to 38.5-39.0%)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39.0%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Missed-lowered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adj. OP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FY25 revenue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7.0-8.5% (to 8-9%)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+8.6%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E7C86"/>
                          </a:solidFill>
                          <a:latin typeface="Arial"/>
                        </a:rPr>
                        <a:t>Beat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[D]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FY25 margin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39-40% (to 39.5-40%)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39.9%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E7C86"/>
                          </a:solidFill>
                          <a:latin typeface="Arial"/>
                        </a:rPr>
                        <a:t>Met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adj. OP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2025/26 target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41-43% adj. OP margin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39.9%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Missed 110-310bp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ID 2022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FY26 revenue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7.5-9% OCC (to 6.9-7.7% rep.)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1H +7.5%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Cut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MBGL [D]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7863840" y="1371600"/>
          <a:ext cx="3931920" cy="3429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71600"/>
                <a:gridCol w="1280160"/>
                <a:gridCol w="12801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Target drift  [IR/D]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Investor Day (May-12)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Now (Aug / Sep)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Standalone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$20-25m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~150bp = ~$26m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One-time cost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$75-100m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$75-110m; ~50% capitalized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+50bp/yr margin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after 12-18m reset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full 50bp from 2028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Leverage target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&lt;=2.5x gross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"2.5x-ish"; 2.7x actual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411480" y="4937760"/>
            <a:ext cx="11384280" cy="658368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100" b="0" i="0">
                <a:solidFill>
                  <a:srgbClr val="1F3864"/>
                </a:solidFill>
                <a:latin typeface="Arial"/>
              </a:rPr>
              <a:t>At the May-12 reaffirmation, Q1-26 growth ex-FX was already ~7.4%, below the 7.5% floor [C]. The new guide implies a 2H-26 Adj. EBITDA margin of 37.9-38.9% vs 39.7% in 2H-25 [C].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669280"/>
            <a:ext cx="1138428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/>
            <a:r>
              <a:rPr sz="1100" b="0" i="1">
                <a:solidFill>
                  <a:srgbClr val="1F3864"/>
                </a:solidFill>
                <a:latin typeface="Arial"/>
              </a:rPr>
              <a:t>“So we're probably not going to get to the full 50 basis point expansion target until 2028.”</a:t>
            </a:r>
            <a:r>
              <a:rPr sz="950" b="0" i="0">
                <a:solidFill>
                  <a:srgbClr val="595959"/>
                </a:solidFill>
                <a:latin typeface="Arial"/>
              </a:rPr>
              <a:t>   Matt Calderone (CFO), Goldman Sachs Communacopia, 2026-09-10</a:t>
            </a:r>
          </a:p>
        </p:txBody>
      </p:sp>
      <p:sp>
        <p:nvSpPr>
          <p:cNvPr id="8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analysis/D10_guidance_vs_execution.md §1-3; analysis/D4_disclosure_changes.md §4, §7-9; transcripts/TARGETS_TIMELINE.md; extraction/segments_kpi.csv (8-K p.3 guidance)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PRICING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Price drove ~56% of 1H-26 revenue growth; new business faded from ~$12m in Q1 to ~$8m in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52120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Revenue increase y/y by driver, $m</a:t>
            </a:r>
          </a:p>
        </p:txBody>
      </p:sp>
      <p:sp>
        <p:nvSpPr>
          <p:cNvPr id="5" name="Tier tag D/C"/>
          <p:cNvSpPr/>
          <p:nvPr/>
        </p:nvSpPr>
        <p:spPr>
          <a:xfrm>
            <a:off x="5939028" y="1408176"/>
            <a:ext cx="489204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[D/C]</a:t>
            </a:r>
          </a:p>
        </p:txBody>
      </p:sp>
      <p:graphicFrame>
        <p:nvGraphicFramePr>
          <p:cNvPr id="6" name="Chart: Revenue increase y/y by driver, $m"/>
          <p:cNvGraphicFramePr>
            <a:graphicFrameLocks noGrp="1"/>
          </p:cNvGraphicFramePr>
          <p:nvPr/>
        </p:nvGraphicFramePr>
        <p:xfrm>
          <a:off x="411480" y="1682496"/>
          <a:ext cx="6035040" cy="36210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675120" y="1371600"/>
          <a:ext cx="5120640" cy="14630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 of growth  [C]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Q1-26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Q2-26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6M-26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~4.8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~3.6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~4.2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New business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~2.9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~1.8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~2.3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Total growth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2971800"/>
            <a:ext cx="5120640" cy="233172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Vocabulary shift: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the Form 10/A credited Q1-26 to $26m of "new business"; the 10-Q split implies ~$12m [D/C].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CARFAX is the price engine;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B2B growth is "primarily due to continued new business growth" [D].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Timing: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most price lands early in the year, so 2H leans on new business [IR].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Not disclosed: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price per location, escalators, bundle pricing, AI pricing.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440680"/>
            <a:ext cx="557784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/>
            <a:r>
              <a:rPr sz="1050" b="0" i="1">
                <a:solidFill>
                  <a:srgbClr val="1F3864"/>
                </a:solidFill>
                <a:latin typeface="Arial"/>
              </a:rPr>
              <a:t>“Cars continue to go up. The cost of the CARFAX report as a percent of that continues to decline.”</a:t>
            </a:r>
            <a:r>
              <a:rPr sz="900" b="0" i="0">
                <a:solidFill>
                  <a:srgbClr val="595959"/>
                </a:solidFill>
                <a:latin typeface="Arial"/>
              </a:rPr>
              <a:t>   Scott Fredericks (President, CARFAX), Investor Day, 2026-05-12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440680"/>
            <a:ext cx="557784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/>
            <a:r>
              <a:rPr sz="1050" b="0" i="1">
                <a:solidFill>
                  <a:srgbClr val="1F3864"/>
                </a:solidFill>
                <a:latin typeface="Arial"/>
              </a:rPr>
              <a:t>“The majority of that is in value.”</a:t>
            </a:r>
            <a:r>
              <a:rPr sz="900" b="0" i="0">
                <a:solidFill>
                  <a:srgbClr val="595959"/>
                </a:solidFill>
                <a:latin typeface="Arial"/>
              </a:rPr>
              <a:t>   Matt Calderone (CFO), Investor Day, 2026-05-12, on core 5-7% growth</a:t>
            </a:r>
          </a:p>
        </p:txBody>
      </p:sp>
      <p:sp>
        <p:nvSpPr>
          <p:cNvPr id="11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extraction/segments_kpi.csv (10Q p.27 revenue drivers; 10A p.347); canonical/primary.csv (IS.revenue); analysis/D7_pricing.md §1-5; analysis/D4_disclosure_changes.md §3; transcripts/MBGL_2026-05-12_investor-day.md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DEMAND DRIVERS VS INDUSTRY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Organic growth beat US vehicle sales in 10 of 11 years; the only common move was the 2020-21 shock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6858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MBGL organic growth vs US vehicle sales growth (FRED), %</a:t>
            </a:r>
          </a:p>
        </p:txBody>
      </p:sp>
      <p:sp>
        <p:nvSpPr>
          <p:cNvPr id="5" name="Tier tag D/C"/>
          <p:cNvSpPr/>
          <p:nvPr/>
        </p:nvSpPr>
        <p:spPr>
          <a:xfrm>
            <a:off x="7584948" y="1408176"/>
            <a:ext cx="489204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[D/C]</a:t>
            </a:r>
          </a:p>
        </p:txBody>
      </p:sp>
      <p:graphicFrame>
        <p:nvGraphicFramePr>
          <p:cNvPr id="6" name="Chart: MBGL organic growth vs US vehicle sales growth (FRED)"/>
          <p:cNvGraphicFramePr>
            <a:graphicFrameLocks noGrp="1"/>
          </p:cNvGraphicFramePr>
          <p:nvPr/>
        </p:nvGraphicFramePr>
        <p:xfrm>
          <a:off x="411480" y="1682496"/>
          <a:ext cx="7680960" cy="38496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KPI 1"/>
          <p:cNvSpPr/>
          <p:nvPr/>
        </p:nvSpPr>
        <p:spPr>
          <a:xfrm>
            <a:off x="8321040" y="1371600"/>
            <a:ext cx="1682496" cy="9509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ier tag C"/>
          <p:cNvSpPr/>
          <p:nvPr/>
        </p:nvSpPr>
        <p:spPr>
          <a:xfrm>
            <a:off x="9614916" y="142646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554480"/>
            <a:ext cx="1536192" cy="3175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871980"/>
            <a:ext cx="1536192" cy="4323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Mean organic, 2015-25</a:t>
            </a:r>
          </a:p>
        </p:txBody>
      </p:sp>
      <p:sp>
        <p:nvSpPr>
          <p:cNvPr id="11" name="KPI 2"/>
          <p:cNvSpPr/>
          <p:nvPr/>
        </p:nvSpPr>
        <p:spPr>
          <a:xfrm>
            <a:off x="10113264" y="1371600"/>
            <a:ext cx="1682496" cy="9509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" name="Tier tag C"/>
          <p:cNvSpPr/>
          <p:nvPr/>
        </p:nvSpPr>
        <p:spPr>
          <a:xfrm>
            <a:off x="11407140" y="1426464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6416" y="1554480"/>
            <a:ext cx="1536192" cy="3175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0.2%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6416" y="1871980"/>
            <a:ext cx="1536192" cy="4323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Mean industry, 2015-25</a:t>
            </a:r>
          </a:p>
        </p:txBody>
      </p:sp>
      <p:sp>
        <p:nvSpPr>
          <p:cNvPr id="15" name="KPI 3"/>
          <p:cNvSpPr/>
          <p:nvPr/>
        </p:nvSpPr>
        <p:spPr>
          <a:xfrm>
            <a:off x="8321040" y="2432304"/>
            <a:ext cx="1682496" cy="9509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6" name="Tier tag C"/>
          <p:cNvSpPr/>
          <p:nvPr/>
        </p:nvSpPr>
        <p:spPr>
          <a:xfrm>
            <a:off x="9614916" y="2487168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615184"/>
            <a:ext cx="1536192" cy="3175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0.54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932684"/>
            <a:ext cx="1536192" cy="4323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Correlation, all years</a:t>
            </a:r>
          </a:p>
        </p:txBody>
      </p:sp>
      <p:sp>
        <p:nvSpPr>
          <p:cNvPr id="19" name="KPI 4"/>
          <p:cNvSpPr/>
          <p:nvPr/>
        </p:nvSpPr>
        <p:spPr>
          <a:xfrm>
            <a:off x="10113264" y="2432304"/>
            <a:ext cx="1682496" cy="9509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" name="Tier tag C"/>
          <p:cNvSpPr/>
          <p:nvPr/>
        </p:nvSpPr>
        <p:spPr>
          <a:xfrm>
            <a:off x="11407140" y="2487168"/>
            <a:ext cx="333756" cy="18288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6416" y="2615184"/>
            <a:ext cx="1536192" cy="3175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-0.39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6416" y="2932684"/>
            <a:ext cx="1536192" cy="4323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Ex 2020-21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20440"/>
            <a:ext cx="3474720" cy="201168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2020: organic -2% vs industry -15%; recurring revenue still +3% [D]. Damage came via price relief and recall.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Arial"/>
              </a:rPr>
              <a:t>The cyclical sleeve is the ~19% non-subscription line: recall, OEM marketing, Planning, Canada.</a:t>
            </a:r>
          </a:p>
        </p:txBody>
      </p:sp>
      <p:sp>
        <p:nvSpPr>
          <p:cNvPr id="24" name="Callout"/>
          <p:cNvSpPr/>
          <p:nvPr/>
        </p:nvSpPr>
        <p:spPr>
          <a:xfrm>
            <a:off x="411480" y="5623560"/>
            <a:ext cx="11384280" cy="475488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Caveats: slide 91 is "NOT prepared on a consistent basis"; year mapping inferred [C]; "industry" is new light-vehicle sales, not used-vehicle transactions; no 2008-09 data.</a:t>
            </a:r>
          </a:p>
        </p:txBody>
      </p:sp>
      <p:sp>
        <p:nvSpPr>
          <p:cNvPr id="25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extraction/presentations.csv (ID s.91 data labels); analysis/K_session_tables.md (D9, D1); analysis/D9_demand_drivers.md §3; analysis/D1_moat.md §4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INCENTIVES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Pay rewarded CARFAX EBITA and tenure; the spin turned performance shares into time-vested RSUs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1371600"/>
          <a:ext cx="6949440" cy="3931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4560"/>
                <a:gridCol w="3291840"/>
                <a:gridCol w="1463040"/>
              </a:tblGrid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Design feature  [D/C]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CEO FY25 total pay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$6.44m (SCT); STI paid 120% although both revenue metrics missed target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D / 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CARFAX President STI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100% CARFAX U.S. EBITA; a 2.6% beat paid 129%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D / 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2023-25 PSU outcomes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~182-184% of target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CARFAX PSU band (2025)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Threshold-to-target spread only 4.5%; 50% floor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Spin conversion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In-flight PSUs and all 2026 PSUs became time-vested RSUs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2026 target pay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CFO $5.05m vs CEO $4.50m; CFO one-time awards ~$5.93m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2026 LTIP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14% reserve (~41.3m shares), liberal recycling; no metrics in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D / 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Alignment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No TSR metric; no ownership guideline; insiders &lt;1%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Panel"/>
          <p:cNvSpPr/>
          <p:nvPr/>
        </p:nvSpPr>
        <p:spPr>
          <a:xfrm>
            <a:off x="7589520" y="1371600"/>
            <a:ext cx="4206240" cy="39319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384048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 i="0">
                <a:solidFill>
                  <a:srgbClr val="1F3864"/>
                </a:solidFill>
                <a:latin typeface="Arial"/>
              </a:rPr>
              <a:t>What to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886200" cy="3429000"/>
          </a:xfrm>
          <a:prstGeom prst="rect">
            <a:avLst/>
          </a:prstGeom>
          <a:noFill/>
        </p:spPr>
        <p:txBody>
          <a:bodyPr wrap="square" lIns="36576" rIns="36576" tIns="18288" bIns="18288"/>
          <a:lstStyle/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SBC ramp: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from ~1.3% of revenue ($22m FY25) to 3-4% ($56-75m on FY26 guide), excluded from Adj. EBITDA.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Metric risk: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if pay uses Adj. EBITDA, SBC and "other" add-backs never reach the bonus.</a:t>
            </a:r>
          </a:p>
          <a:p>
            <a:pPr marL="155448" indent="-155448">
              <a:spcAft>
                <a:spcPts val="600"/>
              </a:spcAft>
              <a:buFont typeface="Arial"/>
              <a:buChar char="•"/>
            </a:pPr>
            <a:r>
              <a:rPr sz="1100" b="1" i="0">
                <a:solidFill>
                  <a:srgbClr val="1F3864"/>
                </a:solidFill>
                <a:latin typeface="Arial"/>
              </a:rPr>
              <a:t>First proxy (~Apr-2027):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STI/PSU metrics, TSR, ownership guidelines.</a:t>
            </a:r>
          </a:p>
        </p:txBody>
      </p:sp>
      <p:sp>
        <p:nvSpPr>
          <p:cNvPr id="8" name="Callout"/>
          <p:cNvSpPr/>
          <p:nvPr/>
        </p:nvSpPr>
        <p:spPr>
          <a:xfrm>
            <a:off x="411480" y="5440680"/>
            <a:ext cx="11384280" cy="658368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100" b="0" i="0">
                <a:solidFill>
                  <a:srgbClr val="1F3864"/>
                </a:solidFill>
                <a:latin typeface="Arial"/>
              </a:rPr>
              <a:t>Counter: unit EBITA metrics suit a 40%+ margin data business, converting PSUs at spin is standard, and severance (CEO 2x, double trigger, no gross-up) is mid-market [E].</a:t>
            </a:r>
          </a:p>
        </p:txBody>
      </p:sp>
      <p:sp>
        <p:nvSpPr>
          <p:cNvPr id="9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analysis/D5_incentives.md §2-5 (10/A p.391-414; 10-Q Ex.10.17-10.18); canonical/primary.csv (CF.sbc)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RED FLAGS: DISCLOSURE CHANGES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Six of seven disclosure changes coincided with the affected metric turning worse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1371600"/>
          <a:ext cx="11384280" cy="4160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34640"/>
                <a:gridCol w="1828800"/>
                <a:gridCol w="4846320"/>
                <a:gridCol w="1874520"/>
              </a:tblGrid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  [D/C]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Vintage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What it hid or reframed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Coincided with weaker metric?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Growth relabelled: "new business" to "price"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10/A (May) to 10-Q (Aug)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10/A: Q1-26 new business $26m; 10-Q implies ~$12m, with ~$20m 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Segment measure: OP to Adj. EBITDA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10-Q Q2-26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B2B segment OP fell to $3m in Q2-26; stand-up costs ($33m 6M) booked in B2B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FY26 guide: organic cc to reported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ID (May) to Q2 (Aug)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Like-for-like cut ~0.9-1.6pt, not the 0.6-1.3pt headline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Adj. EBITDA definition: 10 to 6 exclusions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10/A to 10-Q / 8-K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New "and other" catch-all; Q2 deck still prints the 10-item text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Mixed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SPGI 41-43% margin target dropped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ID 2022 to MBGL ID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Replaced by +50bp/yr from a reset ~39.1% base on a more generous measure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NRR pulled from Investor Day deck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ID 2026-05-12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"Meaningfully north of 100%"; no number in any filing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Business-line $ and organic growth dropped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SPGI Q1-26 to MBGL Q2-26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Manufacturing (the weak line: -3% Q3-25) no longer visible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623560"/>
            <a:ext cx="1138428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/>
            <a:r>
              <a:rPr sz="1100" b="0" i="1">
                <a:solidFill>
                  <a:srgbClr val="1F3864"/>
                </a:solidFill>
                <a:latin typeface="Arial"/>
              </a:rPr>
              <a:t>“We actually had an NRR number in the presentation early on. We pulled it.”</a:t>
            </a:r>
            <a:r>
              <a:rPr sz="950" b="0" i="0">
                <a:solidFill>
                  <a:srgbClr val="595959"/>
                </a:solidFill>
                <a:latin typeface="Arial"/>
              </a:rPr>
              <a:t>   Matt Calderone (CFO), Investor Day, 2026-05-12</a:t>
            </a:r>
          </a:p>
        </p:txBody>
      </p:sp>
      <p:sp>
        <p:nvSpPr>
          <p:cNvPr id="6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analysis/D4_disclosure_changes.md §0-4, §9-11; extraction/segments_kpi.csv (10A p.347; 10Q p.27); transcripts/MBGL_2026-05-12_investor-day.md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PRE-MORTEM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The likeliest way to lose is a slow de-rating to a 6-7% grower, not a moat collapse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1371600"/>
          <a:ext cx="11384280" cy="4114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926080"/>
                <a:gridCol w="4206240"/>
                <a:gridCol w="777240"/>
                <a:gridCol w="868680"/>
                <a:gridCol w="26060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Bear case (extrapolates something already observed)  [E]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Observed evidence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Likelihood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Magnitude by FY28 [E]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1  Price lever wears 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Price ~4.2pt of 1H-26 growth; new business $12m to $8m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~$105m Adj. EBITDA (~12% of plan)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2  Cross-sell / go-to-market keeps failing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Lifetime bundle reversed Jun-26; 1.5-2 products per dealer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~$30-55m EBITDA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3  AI / search erode consumer traffic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Ad spend +31% vs revenue +18% (FY23-25); CAC rising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~$35-40m EBITDA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4  B2B commoditises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B2B +3% / +6%; FY25 flow-through -18%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~$35m EBITDA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5  Cyclical downturn (transactional + price relief)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2020: organic -2%, dealer price relief; recall -$15m FY24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~$45m EBITDA (~6%)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6  Margin story slips again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Target missed; costs at top of ranges; expansion pushed to 2028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~$55-75m GAAP pre-tax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7  Leverage / capital-return squeeze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2.7x gross; interest ~31% of normalized 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9861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$50m EBITDA miss = ~0.15-0.2x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8  Data-supply squeeze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10/A: supplier consolidation raised fees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0413E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E7C86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~$20-30m EBITDA (illustrative)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Callout"/>
          <p:cNvSpPr/>
          <p:nvPr/>
        </p:nvSpPr>
        <p:spPr>
          <a:xfrm>
            <a:off x="411480" y="5577840"/>
            <a:ext cx="11384280" cy="530352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050" b="0" i="0">
                <a:solidFill>
                  <a:srgbClr val="1F3864"/>
                </a:solidFill>
                <a:latin typeface="Arial"/>
              </a:rPr>
              <a:t>Cases 1, 2, 4 and 6 are one cluster (growth ~6-7%, no margin expansion); magnitudes overlap and must not be summed. FY28 plan base: revenue ~$2,220m, Adj. EBITDA ~$870m [E].</a:t>
            </a:r>
          </a:p>
        </p:txBody>
      </p:sp>
      <p:sp>
        <p:nvSpPr>
          <p:cNvPr id="6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analysis/D11_premortem.md §1-3; analysis/D7_pricing.md; analysis/D2_unit_economics.md; analysis/D3_group_decomposition.md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MANAGEMENT Q&amp;A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Three questions decide the thesis: dealer volume vs price, a dollar margin bridge, and AI's effect on traffic</a:t>
            </a:r>
          </a:p>
        </p:txBody>
      </p:sp>
      <p:sp>
        <p:nvSpPr>
          <p:cNvPr id="4" name="Card 1"/>
          <p:cNvSpPr/>
          <p:nvPr/>
        </p:nvSpPr>
        <p:spPr>
          <a:xfrm>
            <a:off x="411480" y="1371600"/>
            <a:ext cx="3672840" cy="3291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" name="Tier tag Bear case 1"/>
          <p:cNvSpPr/>
          <p:nvPr/>
        </p:nvSpPr>
        <p:spPr>
          <a:xfrm>
            <a:off x="2881884" y="1463040"/>
            <a:ext cx="1110996" cy="201168"/>
          </a:xfrm>
          <a:prstGeom prst="roundRect">
            <a:avLst>
              <a:gd name="adj" fmla="val 3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[Bear case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435608"/>
            <a:ext cx="226923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Q1  Price, volume,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947672"/>
            <a:ext cx="3453384" cy="266090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How did enrolled CARFAX dealer locations change in 2025 and 1H-26, what was gross revenue retention, and what share of dealers took a price increase at renewal? Will you print NRR?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Good answer: numbers, plus a reconciliation of the 10/A "new business" to the 10-Q "price" split.</a:t>
            </a:r>
          </a:p>
        </p:txBody>
      </p:sp>
      <p:sp>
        <p:nvSpPr>
          <p:cNvPr id="8" name="Card 2"/>
          <p:cNvSpPr/>
          <p:nvPr/>
        </p:nvSpPr>
        <p:spPr>
          <a:xfrm>
            <a:off x="4267200" y="1371600"/>
            <a:ext cx="3672840" cy="3291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ier tag Bear cases 6, 10"/>
          <p:cNvSpPr/>
          <p:nvPr/>
        </p:nvSpPr>
        <p:spPr>
          <a:xfrm>
            <a:off x="6348984" y="1463040"/>
            <a:ext cx="1499616" cy="201168"/>
          </a:xfrm>
          <a:prstGeom prst="roundRect">
            <a:avLst>
              <a:gd name="adj" fmla="val 3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[Bear cases 6, 10]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6928" y="1435608"/>
            <a:ext cx="188061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Q2  A dollar margin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6928" y="1947672"/>
            <a:ext cx="3453384" cy="266090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Bridge FY25's $711m (10-item definition) to the FY27 base on today's 6-item definition: standalone cost, allocations replaced, segment reallocation, "severance and other". Will SBC at 3-4% be excluded from pay metrics?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Good answer: dollars, and a capped "other" add-back.</a:t>
            </a:r>
          </a:p>
        </p:txBody>
      </p:sp>
      <p:sp>
        <p:nvSpPr>
          <p:cNvPr id="12" name="Card 3"/>
          <p:cNvSpPr/>
          <p:nvPr/>
        </p:nvSpPr>
        <p:spPr>
          <a:xfrm>
            <a:off x="8122920" y="1371600"/>
            <a:ext cx="3672840" cy="3291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ier tag Bear case 3"/>
          <p:cNvSpPr/>
          <p:nvPr/>
        </p:nvSpPr>
        <p:spPr>
          <a:xfrm>
            <a:off x="10593324" y="1463040"/>
            <a:ext cx="1110996" cy="201168"/>
          </a:xfrm>
          <a:prstGeom prst="roundRect">
            <a:avLst>
              <a:gd name="adj" fmla="val 3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[Bear case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1435608"/>
            <a:ext cx="2269236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Q3  Traffic, ad intensity and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1947672"/>
            <a:ext cx="3453384" cy="266090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What share of sessions and report views arrive via search or AI answer engines, how has cost per visitor trended, and do you license history data to any AI provider?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Good answer: traffic mix and cost per visitor; a concrete licensing position.</a:t>
            </a:r>
          </a:p>
        </p:txBody>
      </p:sp>
      <p:graphicFrame>
        <p:nvGraphicFramePr>
          <p:cNvPr id="16" name="Table"/>
          <p:cNvGraphicFramePr>
            <a:graphicFrameLocks noGrp="1"/>
          </p:cNvGraphicFramePr>
          <p:nvPr/>
        </p:nvGraphicFramePr>
        <p:xfrm>
          <a:off x="411480" y="4800600"/>
          <a:ext cx="11384280" cy="129844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108960"/>
                <a:gridCol w="8275320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Secondary question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Why were stand-up costs booked in B2B?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B2B OP fell to $3m in Q2-26 as the segment measure switched [D]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Define "normalized GAAP NI" for the 25% payout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$70.8m dividend is ~34-44% of standalone NI on our math [C]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What re-accelerates 2H revenue?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Guide implies 2H +6.3-8.0% while new business was slowing [C]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analysis/D12_management_QA.md; analysis/D11_premortem.md; analysis/D3_group_decomposition.md §5; analysis/D10_guidance_vs_execution.md §3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HONEST COUNTERS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The bull case is strong where it is audited: moat evidence, cash generation and revenue delivery</a:t>
            </a:r>
          </a:p>
        </p:txBody>
      </p:sp>
      <p:sp>
        <p:nvSpPr>
          <p:cNvPr id="4" name="Card 1"/>
          <p:cNvSpPr/>
          <p:nvPr/>
        </p:nvSpPr>
        <p:spPr>
          <a:xfrm>
            <a:off x="411480" y="1371600"/>
            <a:ext cx="3685032" cy="1929384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" name="Tier tag D/C"/>
          <p:cNvSpPr/>
          <p:nvPr/>
        </p:nvSpPr>
        <p:spPr>
          <a:xfrm>
            <a:off x="3515868" y="1463040"/>
            <a:ext cx="489204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[D/C]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435608"/>
            <a:ext cx="290322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Moat evidence is largely audited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746504"/>
            <a:ext cx="3465576" cy="149961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Revenue, margins, source and record counts are filing data; the CARFAX margin rose from 45.5% to 48.0% (6M-26).</a:t>
            </a:r>
          </a:p>
        </p:txBody>
      </p:sp>
      <p:sp>
        <p:nvSpPr>
          <p:cNvPr id="8" name="Card 2"/>
          <p:cNvSpPr/>
          <p:nvPr/>
        </p:nvSpPr>
        <p:spPr>
          <a:xfrm>
            <a:off x="4261104" y="1371600"/>
            <a:ext cx="3685032" cy="1929384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ier tag D"/>
          <p:cNvSpPr/>
          <p:nvPr/>
        </p:nvSpPr>
        <p:spPr>
          <a:xfrm>
            <a:off x="7520940" y="1463040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435608"/>
            <a:ext cx="3058668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Downturns brought price relief, not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947672"/>
            <a:ext cx="3465576" cy="12984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Recurring revenue grew +3% in 2020 while organic was -2%; recovery came within 12 months.</a:t>
            </a:r>
          </a:p>
        </p:txBody>
      </p:sp>
      <p:sp>
        <p:nvSpPr>
          <p:cNvPr id="12" name="Card 3"/>
          <p:cNvSpPr/>
          <p:nvPr/>
        </p:nvSpPr>
        <p:spPr>
          <a:xfrm>
            <a:off x="8110728" y="1371600"/>
            <a:ext cx="3685032" cy="1929384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ier tag D/C"/>
          <p:cNvSpPr/>
          <p:nvPr/>
        </p:nvSpPr>
        <p:spPr>
          <a:xfrm>
            <a:off x="11215116" y="1463040"/>
            <a:ext cx="489204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[D/C]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435608"/>
            <a:ext cx="290322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Revenue guidance mostly 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746504"/>
            <a:ext cx="3465576" cy="149961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Two of three SPGI-era years beat the initial guide; the FY26 cut is ~1pt like-for-like.</a:t>
            </a:r>
          </a:p>
        </p:txBody>
      </p:sp>
      <p:sp>
        <p:nvSpPr>
          <p:cNvPr id="16" name="Card 4"/>
          <p:cNvSpPr/>
          <p:nvPr/>
        </p:nvSpPr>
        <p:spPr>
          <a:xfrm>
            <a:off x="411480" y="3465576"/>
            <a:ext cx="3685032" cy="1929384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ier tag D"/>
          <p:cNvSpPr/>
          <p:nvPr/>
        </p:nvSpPr>
        <p:spPr>
          <a:xfrm>
            <a:off x="3671316" y="355701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3529584"/>
            <a:ext cx="3058668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Some flags cut against the company's optics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4041648"/>
            <a:ext cx="3465576" cy="12984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The Q2-25 recast (186 to 188) lowers growth; the 10-Q volunteered the price split; printed EPS shows the decline.</a:t>
            </a:r>
          </a:p>
        </p:txBody>
      </p:sp>
      <p:sp>
        <p:nvSpPr>
          <p:cNvPr id="20" name="Card 5"/>
          <p:cNvSpPr/>
          <p:nvPr/>
        </p:nvSpPr>
        <p:spPr>
          <a:xfrm>
            <a:off x="4261104" y="3465576"/>
            <a:ext cx="3685032" cy="1929384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ier tag C"/>
          <p:cNvSpPr/>
          <p:nvPr/>
        </p:nvSpPr>
        <p:spPr>
          <a:xfrm>
            <a:off x="7520940" y="355701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529584"/>
            <a:ext cx="3058668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B2B dip may be a one-year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3840480"/>
            <a:ext cx="3465576" cy="149961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6M-26 B2B flow-through recovered to ~50% after -18% in FY25.</a:t>
            </a:r>
          </a:p>
        </p:txBody>
      </p:sp>
      <p:sp>
        <p:nvSpPr>
          <p:cNvPr id="24" name="Card 6"/>
          <p:cNvSpPr/>
          <p:nvPr/>
        </p:nvSpPr>
        <p:spPr>
          <a:xfrm>
            <a:off x="8110728" y="3465576"/>
            <a:ext cx="3685032" cy="1929384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ier tag C"/>
          <p:cNvSpPr/>
          <p:nvPr/>
        </p:nvSpPr>
        <p:spPr>
          <a:xfrm>
            <a:off x="11370564" y="3557016"/>
            <a:ext cx="333756" cy="201168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[C]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3529584"/>
            <a:ext cx="3058668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Cash supports the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3840480"/>
            <a:ext cx="3465576" cy="149961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Capex ~1% of revenue; standalone FCF ~$365m covers the dividend ~5x; no capitalized-software asset.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1138428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/>
            <a:r>
              <a:rPr sz="1100" b="0" i="1">
                <a:solidFill>
                  <a:srgbClr val="1F3864"/>
                </a:solidFill>
                <a:latin typeface="Arial"/>
              </a:rPr>
              <a:t>“the majority of it's sitting behind a firewall or a paywall somewhere.”</a:t>
            </a:r>
            <a:r>
              <a:rPr sz="950" b="0" i="0">
                <a:solidFill>
                  <a:srgbClr val="595959"/>
                </a:solidFill>
                <a:latin typeface="Arial"/>
              </a:rPr>
              <a:t>   Bill Eager (CEO), Goldman Sachs Communacopia, 2026-09-10</a:t>
            </a:r>
          </a:p>
        </p:txBody>
      </p:sp>
      <p:sp>
        <p:nvSpPr>
          <p:cNvPr id="29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analysis/SYNTHESIS.md (honest counters); analysis/D11_premortem.md §3; analysis/D4_disclosure_changes.md (honest counters); analysis/D2_unit_economics.md; transcripts/MBGL_2026-09-10_goldman-sachs-communacopia.md</a:t>
            </a:r>
          </a:p>
        </p:txBody>
      </p:sp>
      <p:sp>
        <p:nvSpPr>
          <p:cNvPr id="30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411480" y="228600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 i="0">
                <a:solidFill>
                  <a:srgbClr val="0E7C86"/>
                </a:solidFill>
                <a:latin typeface="Arial"/>
              </a:rPr>
              <a:t>APPENDIX: SOURCE LIMITATIONS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842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000" b="1" i="0">
                <a:solidFill>
                  <a:srgbClr val="1F3864"/>
                </a:solidFill>
                <a:latin typeface="Arial"/>
              </a:rPr>
              <a:t>What this deck cannot see: native filings, SEC XBRL, proxy data and any used-vehicle market series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1371600"/>
          <a:ext cx="11384280" cy="42062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43200"/>
                <a:gridCol w="5120640"/>
                <a:gridCol w="352044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Mitigation in this deck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SEC (sec.gov) blocked; no XBRL cross-check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All filing data read from Quartr page text; some tables flattened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Canonical layer: 390 cells, 0 collisions; Quartr Q2-26 values matched 6 of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Carve-out financials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Include ~$100m of S&amp;P allocations; pre-spin capital structure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Standalone bridge on slide 14 [C/E]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Investor Day slide 91 series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"NOT prepared on a consistent basis"; year mapping inferred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Labelled [C]; used only for relative growth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Predecessor eras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IHS scope incl. Maritime &amp; Trade; Nov FYE; FY22 ~10 months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Separate, labelled chart (slide 7)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No DEF 14A yet; S-8 plan text not in Quartr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Ownership counts flattened; future metrics unknown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Incentive findings flagged as absence, not design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No used-vehicle or dealer-count series (Part B blocked)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Industry comparison uses new-vehicle sales only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Caveat on slide 17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864"/>
                          </a:solidFill>
                          <a:latin typeface="Arial"/>
                        </a:rPr>
                        <a:t>Company-sourced KPIs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ROI, awareness, "Show me the CARFAX", TAMs are marketing or survey figures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i="0">
                          <a:solidFill>
                            <a:srgbClr val="262626"/>
                          </a:solidFill>
                          <a:latin typeface="Arial"/>
                        </a:rPr>
                        <a:t>Tagged [IR] / [X]; not used in computations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llout"/>
          <p:cNvSpPr/>
          <p:nvPr/>
        </p:nvSpPr>
        <p:spPr>
          <a:xfrm>
            <a:off x="411480" y="5669280"/>
            <a:ext cx="11384280" cy="438912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7432" bIns="27432" wrap="square"/>
          <a:lstStyle/>
          <a:p>
            <a:pPr algn="l"/>
            <a:r>
              <a:rPr sz="1000" b="0" i="0">
                <a:solidFill>
                  <a:srgbClr val="1F3864"/>
                </a:solidFill>
                <a:latin typeface="Arial"/>
              </a:rPr>
              <a:t>Tiers: [D] printed in a filing or deck; [C] computed from [D] inputs; [E] estimate with stated assumption; [IR] management verbal; [X] third party.</a:t>
            </a:r>
          </a:p>
        </p:txBody>
      </p:sp>
      <p:sp>
        <p:nvSpPr>
          <p:cNvPr id="6" name="Source footnote"/>
          <p:cNvSpPr txBox="1"/>
          <p:nvPr/>
        </p:nvSpPr>
        <p:spPr>
          <a:xfrm>
            <a:off x="411480" y="630936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</a:rPr>
              <a:t>Source: deliverables/PART_A_SUMMARY.md (verification, gaps); canonical/VERIFICATION.md; analysis/D_SPEC.md; extraction/presentations_NOTES.md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/>
            </a:r>
            <a:fld id="{B6F15528-21DE-4FAA-801E-634DDDAF4B2B}" type="slidenum">
              <a:rPr lang="en-US" sz="900">
                <a:solidFill>
                  <a:srgbClr val="595959"/>
                </a:solidFill>
                <a:latin typeface="Arial"/>
              </a:rPr>
              <a:t>23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MBGL Research Deck</dc:title>
  <dc:subject/>
  <dc:creator>Part E research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