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CARFAX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Dealers</c:v>
                </c:pt>
                <c:pt idx="1">
                  <c:v>Large dealer groups</c:v>
                </c:pt>
                <c:pt idx="2">
                  <c:v>Lenders</c:v>
                </c:pt>
                <c:pt idx="3">
                  <c:v>OEM certified pre-owned programs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95</c:v>
                </c:pt>
                <c:pt idx="2">
                  <c:v>50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AutoCheck</c:v>
                </c:pt>
              </c:strCache>
            </c:strRef>
          </c:tx>
          <c:spPr>
            <a:solidFill>
              <a:srgbClr val="C9861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Dealers</c:v>
                </c:pt>
                <c:pt idx="1">
                  <c:v>Large dealer groups</c:v>
                </c:pt>
                <c:pt idx="2">
                  <c:v>Lenders</c:v>
                </c:pt>
                <c:pt idx="3">
                  <c:v>OEM certified pre-owned programs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5</c:v>
                </c:pt>
                <c:pt idx="2">
                  <c:v>50</c:v>
                </c:pt>
                <c:pt idx="3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  <a:latin typeface="Source Sans Pr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Source Sans Pro Light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 revenue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cat>
            <c:strRef>
              <c:f>Sheet1!$A$2:$A$4</c:f>
              <c:strCache>
                <c:ptCount val="3"/>
                <c:pt idx="0">
                  <c:v>CARFAX Listings</c:v>
                </c:pt>
                <c:pt idx="1">
                  <c:v>Cars.com (total)</c:v>
                </c:pt>
                <c:pt idx="2">
                  <c:v>CarGurus (US)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249</c:v>
                </c:pt>
                <c:pt idx="1">
                  <c:v>723</c:v>
                </c:pt>
                <c:pt idx="2">
                  <c:v>827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92.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Users (m)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spPr>
              <a:solidFill>
                <a:srgbClr val="0E7C86"/>
              </a:solidFill>
            </c:spPr>
          </c:dPt>
          <c:dPt>
            <c:idx val="1"/>
            <c:spPr>
              <a:solidFill>
                <a:srgbClr val="0E7C86"/>
              </a:solidFill>
            </c:spPr>
          </c:dPt>
          <c:dPt>
            <c:idx val="2"/>
            <c:spPr>
              <a:solidFill>
                <a:srgbClr val="0E7C86"/>
              </a:solidFill>
            </c:spPr>
          </c:dPt>
          <c:dPt>
            <c:idx val="3"/>
            <c:spPr>
              <a:solidFill>
                <a:srgbClr val="FFFFFF"/>
              </a:solidFill>
              <a:ln w="15875">
                <a:solidFill>
                  <a:srgbClr val="0E7C86"/>
                </a:solidFill>
                <a:prstDash val="dash"/>
              </a:ln>
            </c:spPr>
          </c:dPt>
          <c:cat>
            <c:strRef>
              <c:f>Sheet1!$A$2:$A$5</c:f>
              <c:strCache>
                <c:ptCount val="4"/>
                <c:pt idx="0">
                  <c:v>Dec-22</c:v>
                </c:pt>
                <c:pt idx="1">
                  <c:v>Apr-25</c:v>
                </c:pt>
                <c:pt idx="2">
                  <c:v>Dec-25</c:v>
                </c:pt>
                <c:pt idx="3">
                  <c:v>US goal (north of)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46</c:v>
                </c:pt>
                <c:pt idx="2">
                  <c:v>53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International revenue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</c:v>
                </c:pt>
                <c:pt idx="1">
                  <c:v>155</c:v>
                </c:pt>
                <c:pt idx="2">
                  <c:v>168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8.2399999999999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Vehicles (m)</c:v>
                </c:pt>
              </c:strCache>
            </c:strRef>
          </c:tx>
          <c:spPr>
            <a:solidFill>
              <a:srgbClr val="0E7C8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US</c:v>
                </c:pt>
                <c:pt idx="1">
                  <c:v>Canada</c:v>
                </c:pt>
                <c:pt idx="2">
                  <c:v>EMEA</c:v>
                </c:pt>
                <c:pt idx="3">
                  <c:v>APAC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292</c:v>
                </c:pt>
                <c:pt idx="1">
                  <c:v>28</c:v>
                </c:pt>
                <c:pt idx="2">
                  <c:v>506</c:v>
                </c:pt>
                <c:pt idx="3">
                  <c:v>612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22.1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7FC4CB"/>
              </a:solidFill>
            </c:spPr>
          </c:dPt>
          <c:cat>
            <c:strRef>
              <c:f>Sheet1!$A$2:$A$3</c:f>
              <c:strCache>
                <c:ptCount val="2"/>
                <c:pt idx="0">
                  <c:v>Marketing &amp; Sales 74%</c:v>
                </c:pt>
                <c:pt idx="1">
                  <c:v>Strategy &amp; Planning 26%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  <a:latin typeface="Source Sans Pr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900">
              <a:latin typeface="Source Sans Pro Ligh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95959"/>
          </a:solidFill>
          <a:latin typeface="Source Sans Pro Light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TAM $bn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cat>
            <c:strRef>
              <c:f>Sheet1!$A$2:$A$4</c:f>
              <c:strCache>
                <c:ptCount val="3"/>
                <c:pt idx="0">
                  <c:v>Core market</c:v>
                </c:pt>
                <c:pt idx="1">
                  <c:v>Core + extended</c:v>
                </c:pt>
                <c:pt idx="2">
                  <c:v>Total incl. adjacent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14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59999999999999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CARFAX  |  ADVANTAGE. Sources: Form 10/A (May-26) p.263, 340; 10-Q Q2-26 p.28; Investor Day deck s.57, 58, 64, 67; Experian FY26 results; AlphaSense expert calls #1–#6 (Jun–Sep-26); IHS Markit FY2016 10-K p.80. Revenue = 38% (deck s.57) of CARFAX $1,142m, rescaled for rounding. Full citations with page numbers and timestamped links: work/research_notes/slides/advantage.md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CARFAX  |  LISTINGS. Sources: Form 10/A p.263, 271, 299; Investor Day deck s.57, 65; GS conf. 10-Sep-26; Q2-26 call; CarGurus FY25 10-K p.5, 118, Q2-26 8-K/10-Q; Cars.com FY25 10-K; AlphaSense expert calls #2, #3, #5, #6, #9. Full citations with page numbers and timestamped links: work/research_notes/slides/listings.md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CARFAX  |  FINANCIAL / CONSUMER / OTHER. Sources: Form 10/A p.263, 271, 298, 340–341, 347–355; Investor Day deck s.57, 66; S&amp;P Global Investor Day (Dec-22), Q1-25 call; GS conf. 10-Sep-26; AlphaSense expert calls #1/#3 (same person), #6. Revenue = 26% (deck s.57) of $1,142m, rescaled. Full citations with page numbers and timestamped links: work/research_notes/slides/financial_consumer.md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CARFAX  |  INTERNATIONAL. Sources: Form 10/A p.255, 301, 355, 380; 10-Q Q2-26 p.28; IHS Markit FY2016 10-K p.60–61 (CARPROOF); Investor Day deck s.57, 75, 100; Q2-26 call; GS conf. 10-Sep-26; carVertical (company-sourced); AlphaSense expert call #1. Full citations with page numbers and timestamped links: work/research_notes/slides/international.md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B2B  |  MARKETING &amp; SALES. Sources: Form 10/A p.264–265, 378, 381–382, 452–453; 10-Q Q2-26 p.19–20; Investor Day deck s.34, 40, 42, 43, 48; IHS Markit FY2017 10-K p.62; IHS 8-K (Polk, 2013); Q2-26 call; AlphaSense expert calls #2, #4. Revenue = 74% of B2B $608m [C]. Full citations with page numbers and timestamped links: work/research_notes/slides/marketing_sales.md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B2B  |  STRATEGY &amp; PLANNING. Sources: Form 10/A p.265–266, 297, 378–381; 10-Q Q2-26 p.20; Investor Day deck s.17, 34, 37, 40, 42, 46; Q2-26 call; GS conf. 10-Sep-26; GlobalData/just-auto (LMC deal); AlphaSense expert call #4. Revenue = 26% of B2B $608m [C]. Full citations with page numbers and timestamped links: work/research_notes/slides/strategy_planning.md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CARFAX  |  ADVANTAGE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Source Sans Pro"/>
              </a:rPr>
              <a:t>Advantage: shoppers ask for CARFAX by name, so dealers keep paying — AutoCheck competes on price and marketplace deals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95959"/>
                </a:solidFill>
                <a:latin typeface="Source Sans Pro Light"/>
              </a:rPr>
              <a:t>Dealer vehicle-history-report subscription  ·  CARFAX founded 1984 (Columbia, Missouri)  ·  owned by Polk from 1999, IHS 2013, S&amp;P Global 2022, Mobility Global 2026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~$430m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FY25 revenue (38% of CARFAX)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25%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of group revenue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40,000+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dealer customers (all CARFAX products)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28m+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reports shown by dealers each month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36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OEM certified pre-owned programs use CARFAX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Every car has an ID number (the VIN). CARFAX records its crashes, owners, mileage and services in a "vehicle history report". Advantage is the monthly fee a dealer pays to hand these out free.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a dealer proves a used 2019 Honda Civic had one owner and no accidents, so the buyer trusts the price.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on a trade-in, an old service record shows more miles than the dashboard: the odometer was wound back.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Who pays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Dealers, per store per month (~$999 for unlimited reports at one store). Growth is mostly price.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The moat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Shoppers ask for it by name, and rivals lack its service records (92,000+ shops) and police crash reports (6,300+ agencies).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How it fits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The hub product. The same data powers Listings, Car Care and sales to lenders and insurers.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CARFAX vs AutoCheck: share by customer group (%)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6248095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Expert views (ex-CARFAX staff, Jul-26), not audited; dealers "&gt;90%"; OEM CPO = 36 of 37 named programs [C].</a:t>
            </a:r>
          </a:p>
        </p:txBody>
      </p:sp>
      <p:sp>
        <p:nvSpPr>
          <p:cNvPr id="19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Head to head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486400" y="3904488"/>
          <a:ext cx="6248095" cy="92583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CARFAX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AutoCheck (Experian)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Price, one store, unlimited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~$999 / month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~$799, or "roughly half"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Service &amp; crash records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92,000+ shops; 6,300+ police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"nearly none" (service)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Consumer brand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96% awareness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"not everyone knows" 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US marketplaces, 2026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carfax.com + dealer sites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KBB, Autotrader, most others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Quote card 1"/>
          <p:cNvSpPr/>
          <p:nvPr/>
        </p:nvSpPr>
        <p:spPr>
          <a:xfrm>
            <a:off x="457200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uote 1"/>
          <p:cNvSpPr txBox="1"/>
          <p:nvPr/>
        </p:nvSpPr>
        <p:spPr>
          <a:xfrm>
            <a:off x="585216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262626"/>
                </a:solidFill>
                <a:latin typeface="Source Sans Pro Light"/>
              </a:rPr>
              <a:t>“Cars continue to go up. The cost of the CARFAX report as a percent of that continues to decline.”</a:t>
            </a:r>
          </a:p>
          <a:p>
            <a:pPr>
              <a:spcBef>
                <a:spcPts val="300"/>
              </a:spcBef>
            </a:pPr>
            <a:r>
              <a:rPr sz="850" b="1" i="0">
                <a:solidFill>
                  <a:srgbClr val="0E7C86"/>
                </a:solidFill>
                <a:latin typeface="Source Sans Pro"/>
              </a:rPr>
              <a:t>Scott Fredericks, President CARFAX, Investor Day (12-May-26)</a:t>
            </a:r>
          </a:p>
        </p:txBody>
      </p:sp>
      <p:sp>
        <p:nvSpPr>
          <p:cNvPr id="23" name="Quote card 2"/>
          <p:cNvSpPr/>
          <p:nvPr/>
        </p:nvSpPr>
        <p:spPr>
          <a:xfrm>
            <a:off x="4262018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uote 2"/>
          <p:cNvSpPr txBox="1"/>
          <p:nvPr/>
        </p:nvSpPr>
        <p:spPr>
          <a:xfrm>
            <a:off x="4390034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262626"/>
                </a:solidFill>
                <a:latin typeface="Source Sans Pro Light"/>
              </a:rPr>
              <a:t>“Outside of that, we still see growth opportunity, P&amp;Q, in the core vehicle history report, right?”</a:t>
            </a:r>
          </a:p>
          <a:p>
            <a:pPr>
              <a:spcBef>
                <a:spcPts val="300"/>
              </a:spcBef>
            </a:pPr>
            <a:r>
              <a:rPr sz="850" b="1" i="0">
                <a:solidFill>
                  <a:srgbClr val="0E7C86"/>
                </a:solidFill>
                <a:latin typeface="Source Sans Pro"/>
              </a:rPr>
              <a:t>Matt Calderone, CFO, Goldman Sachs conf. (10-Sep-26)</a:t>
            </a:r>
          </a:p>
        </p:txBody>
      </p:sp>
      <p:sp>
        <p:nvSpPr>
          <p:cNvPr id="25" name="Quote card 3"/>
          <p:cNvSpPr/>
          <p:nvPr/>
        </p:nvSpPr>
        <p:spPr>
          <a:xfrm>
            <a:off x="8066837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uote 3"/>
          <p:cNvSpPr txBox="1"/>
          <p:nvPr/>
        </p:nvSpPr>
        <p:spPr>
          <a:xfrm>
            <a:off x="8194853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262626"/>
                </a:solidFill>
                <a:latin typeface="Source Sans Pro Light"/>
              </a:rPr>
              <a:t>“AutoCheck is now the exclusive vehicle history report provider across almost every major consumer shopping site in the USA.”</a:t>
            </a:r>
          </a:p>
          <a:p>
            <a:pPr>
              <a:spcBef>
                <a:spcPts val="300"/>
              </a:spcBef>
            </a:pPr>
            <a:r>
              <a:rPr sz="850" b="1" i="0">
                <a:solidFill>
                  <a:srgbClr val="0E7C86"/>
                </a:solidFill>
                <a:latin typeface="Source Sans Pro"/>
              </a:rPr>
              <a:t>Experian plc FY26 results (20-May-26)</a:t>
            </a:r>
          </a:p>
        </p:txBody>
      </p:sp>
      <p:sp>
        <p:nvSpPr>
          <p:cNvPr id="27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(May-26) p.263, 340; 10-Q Q2-26 p.28; Investor Day deck s.57, 58, 64, 67; Experian FY26 results; AlphaSense expert calls #1–#6 (Jun–Sep-26); IHS Markit FY2016 10-K p.80. Revenue = 38% (deck s.57) of CARFAX $1,142m, rescaled for rounding.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CARFAX  |  LISTINGS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Source Sans Pro"/>
              </a:rPr>
              <a:t>Listings: a challenger to CarGurus — under 10% of a $3bn+ US market, with a free CARFAX report on every car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95959"/>
                </a:solidFill>
                <a:latin typeface="Source Sans Pro Light"/>
              </a:rPr>
              <a:t>carfax.com used-car marketplace  ·  launched 2014  ·  dealer-paid monthly subscription  ·  "Showroom" premium listings launched Q2-26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~$249m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FY25 revenue (22% of CARFAX)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$3bn+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US listings market (management)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&lt;10%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CARFAX share of that market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23m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monthly unique visitors (all carfax.com)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3.3x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CarGurus US revenue vs CARFAX Listings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An online car lot: dealers pay monthly to show used cars on carfax.com; shoppers search free, and every car has a free CARFAX report.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search "used Civic near me" and tick "1 owner, no accidents" — a filter only CARFAX can run on its own data.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a dealer pays extra for "Showroom" so its cars rank higher, like a sponsored post.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Who pays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Dealers, a flat monthly fee per store (no pay-per-lead).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The moat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It protects the report, not the marketplace: CarGurus has more shoppers, more dealers and better search rankings.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How it fits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Report readers become shoppers. The cost: rival sites switched to AutoCheck once CARFAX became a competitor.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FY25 revenue, $m: CARFAX Listings vs US rivals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6248095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CARFAX = 22% of CARFAX revenue (deck s.57) [C]; Cars.com and CarGurus from their FY25 10-Ks (include ads, finance, software).</a:t>
            </a:r>
          </a:p>
        </p:txBody>
      </p:sp>
      <p:sp>
        <p:nvSpPr>
          <p:cNvPr id="19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CARFAX Listings vs CarGurus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486400" y="3904488"/>
          <a:ext cx="6248095" cy="125044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CARFAX Listings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CarGurus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Launched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2014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2006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US paying dealers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not disclosed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26,151 (Q2-26)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Revenue per dealer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not disclosed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~$2,700 / month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Monthly unique visitors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23m (all carfax.com)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32.5m (Q4-25)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Close rate, one AutoNation store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1.98%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4.54%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Quote card 1"/>
          <p:cNvSpPr/>
          <p:nvPr/>
        </p:nvSpPr>
        <p:spPr>
          <a:xfrm>
            <a:off x="457200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uote 1"/>
          <p:cNvSpPr txBox="1"/>
          <p:nvPr/>
        </p:nvSpPr>
        <p:spPr>
          <a:xfrm>
            <a:off x="585216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“In the U.S. alone, it is a space that is north of $3 billion. It is something that we are not even at 10% of that yet.”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Bill Eager, CEO, Goldman Sachs conf. (10-Sep-26)</a:t>
            </a:r>
          </a:p>
        </p:txBody>
      </p:sp>
      <p:sp>
        <p:nvSpPr>
          <p:cNvPr id="23" name="Quote card 2"/>
          <p:cNvSpPr/>
          <p:nvPr/>
        </p:nvSpPr>
        <p:spPr>
          <a:xfrm>
            <a:off x="4262018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uote 2"/>
          <p:cNvSpPr txBox="1"/>
          <p:nvPr/>
        </p:nvSpPr>
        <p:spPr>
          <a:xfrm>
            <a:off x="4390034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“We are the new kid on the block in actually both those areas, even though we have the strongest recognized consumer brand and data that nobody else has.”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Bill Eager, CEO, Goldman Sachs conf. (10-Sep-26)</a:t>
            </a:r>
          </a:p>
        </p:txBody>
      </p:sp>
      <p:sp>
        <p:nvSpPr>
          <p:cNvPr id="25" name="Quote card 3"/>
          <p:cNvSpPr/>
          <p:nvPr/>
        </p:nvSpPr>
        <p:spPr>
          <a:xfrm>
            <a:off x="8066837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uote 3"/>
          <p:cNvSpPr txBox="1"/>
          <p:nvPr/>
        </p:nvSpPr>
        <p:spPr>
          <a:xfrm>
            <a:off x="8194853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“It's the highest volume of leads, but it's one of the lowest, if not the lowest, closing percentage of leads.”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AutoNation store GM (CARFAX customer), Sep-26</a:t>
            </a:r>
          </a:p>
        </p:txBody>
      </p:sp>
      <p:sp>
        <p:nvSpPr>
          <p:cNvPr id="27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p.263, 271, 299; Investor Day deck s.57, 65; GS conf. 10-Sep-26; Q2-26 call; CarGurus FY25 10-K p.5, 118, Q2-26 8-K/10-Q; Cars.com FY25 10-K; AlphaSense expert calls #2, #3, #5, #6, #9.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CARFAX  |  FINANCIAL / CONSUMER / OTHER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Source Sans Pro"/>
              </a:rPr>
              <a:t>Financial / Consumer: the same car data resold to insurers and lenders — insurers are the growth engine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95959"/>
                </a:solidFill>
                <a:latin typeface="Source Sans Pro Light"/>
              </a:rPr>
              <a:t>Banking &amp; Insurance Group (per-VIN data), consumers buying reports, and (by elimination) CARFAX For Life  ·  reports since 1984  ·  insurers onboarded from ~2014  ·  Car Care / For Life 2019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~$294m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FY25 revenue (26% of CARFAX)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17 of 20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top US financial institutions integrated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5–25¢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paid per VIN by insurers (expert)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~50%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of insurers buying CARFAX data, 2024 (expert)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53m+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Car Care app users (YE-25)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Sells the same car histories to customers other than dealers.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an insurer pays CARFAX a few cents to check a car's past mileage and crashes before pricing your policy.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a bank lending $25,000 for a used car checks it was never flooded; a private buyer pays ~$45 for a report.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Who pays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Insurers and lenders per car checked, with minimum commitments; consumers per report; dealers for For Life (service reminders).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The moat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It holds the odometer and service readings insurers need, and insurers take 2–3 years to approve a new supplier.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How it fits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Same database as Advantage, sold again. The Car Care app sends drivers to shops, and shops send records back.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Car Care app users, millions (with management goal)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6248095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S&amp;P Global Investor Day (Dec-22), SPGI Q1-25 call, Form 10/A p.263; goal "north of 100 million" in the US (Eager, GS Sep-26).</a:t>
            </a:r>
          </a:p>
        </p:txBody>
      </p:sp>
      <p:sp>
        <p:nvSpPr>
          <p:cNvPr id="19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Who buys, and on what terms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486400" y="3904488"/>
          <a:ext cx="6248095" cy="92583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74581"/>
                <a:gridCol w="2874124"/>
                <a:gridCol w="1999390"/>
              </a:tblGrid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Customer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CARFAX position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Price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Insurers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~half buy (2024); expert sees &gt;90% by 2030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$0.05–0.25 per VIN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Lenders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~50/50 with AutoCheck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per VIN; "a commodity"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Consumers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mostly get it free from dealers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~$45 per report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Dealers (For Life)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&lt;half of franchise Advantage dealers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monthly per store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Quote card 1"/>
          <p:cNvSpPr/>
          <p:nvPr/>
        </p:nvSpPr>
        <p:spPr>
          <a:xfrm>
            <a:off x="457200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uote 1"/>
          <p:cNvSpPr txBox="1"/>
          <p:nvPr/>
        </p:nvSpPr>
        <p:spPr>
          <a:xfrm>
            <a:off x="585216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262626"/>
                </a:solidFill>
                <a:latin typeface="Source Sans Pro Light"/>
              </a:rPr>
              <a:t>“I think the biggest area of opportunity is still within the banking and insurance group, and it's insurance companies.”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E7C86"/>
                </a:solidFill>
                <a:latin typeface="Source Sans Pro"/>
              </a:rPr>
              <a:t>Ex-CARFAX banking &amp; insurance sales manager, Jul-26</a:t>
            </a:r>
          </a:p>
        </p:txBody>
      </p:sp>
      <p:sp>
        <p:nvSpPr>
          <p:cNvPr id="23" name="Quote card 2"/>
          <p:cNvSpPr/>
          <p:nvPr/>
        </p:nvSpPr>
        <p:spPr>
          <a:xfrm>
            <a:off x="4262018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uote 2"/>
          <p:cNvSpPr txBox="1"/>
          <p:nvPr/>
        </p:nvSpPr>
        <p:spPr>
          <a:xfrm>
            <a:off x="4390034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262626"/>
                </a:solidFill>
                <a:latin typeface="Source Sans Pro Light"/>
              </a:rPr>
              <a:t>“Revenue to the BIG has also accelerated in the past three years with insurers integrating our data in their workflows”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E7C86"/>
                </a:solidFill>
                <a:latin typeface="Source Sans Pro"/>
              </a:rPr>
              <a:t>Mobility Global Form 10/A (May-26)</a:t>
            </a:r>
          </a:p>
        </p:txBody>
      </p:sp>
      <p:sp>
        <p:nvSpPr>
          <p:cNvPr id="25" name="Quote card 3"/>
          <p:cNvSpPr/>
          <p:nvPr/>
        </p:nvSpPr>
        <p:spPr>
          <a:xfrm>
            <a:off x="8066837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uote 3"/>
          <p:cNvSpPr txBox="1"/>
          <p:nvPr/>
        </p:nvSpPr>
        <p:spPr>
          <a:xfrm>
            <a:off x="8194853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262626"/>
                </a:solidFill>
                <a:latin typeface="Source Sans Pro Light"/>
              </a:rPr>
              <a:t>“Once we have dealers using it, the retention is really high.”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E7C86"/>
                </a:solidFill>
                <a:latin typeface="Source Sans Pro"/>
              </a:rPr>
              <a:t>Bill Eager, CEO, on For Life, Goldman Sachs conf. (10-Sep-26)</a:t>
            </a:r>
          </a:p>
        </p:txBody>
      </p:sp>
      <p:sp>
        <p:nvSpPr>
          <p:cNvPr id="27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p.263, 271, 298, 340–341, 347–355; Investor Day deck s.57, 66; S&amp;P Global Investor Day (Dec-22), Q1-25 call; GS conf. 10-Sep-26; AlphaSense expert calls #1/#3 (same person), #6. Revenue = 26% (deck s.57) of $1,142m, rescaled.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CARFAX  |  INTERNATIONAL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Source Sans Pro"/>
              </a:rPr>
              <a:t>International: market leader in Canada, early days in Europe — growing faster than the US in 2026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95959"/>
                </a:solidFill>
                <a:latin typeface="Source Sans Pro Light"/>
              </a:rPr>
              <a:t>Canada: CARPROOF (founded c.2000) bought Dec-2015 for $459m, renamed CARFAX Canada 2018  ·  CARFAX Europe since 2007  ·  Italy 2025–26, Germany Jul-2026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$168m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FY25 revenue (15% of CARFAX)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+12%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H1-26 growth (US: +7%)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~28m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vehicles in Canada (US ~292m)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~1.1bn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vehicles in EMEA + APAC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1–2 pts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of group growth targeted from international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The same car-history report, country by country; each country keeps records differently, so CARFAX signs up local data first.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a Toronto family sees there is still a loan on a 2018 RAV4 and makes the seller pay it off.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a German shopper on mobile.de clicks a CARFAX link and catches a wound-back odometer.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Who pays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Canada: dealers, auctions, lenders, consumers (more pay-per-report than the US). Europe: consumers first, dealers via marketplaces.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The moat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Canada: bought the leader and its channels. Europe: none yet; data access is the gate (Germany opened in 2026).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How it fits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Runs on the US data platform, which brought Germany forward ~6 months.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Revenue, $m (left) and vehicles in operation by region, m (right)</a:t>
            </a:r>
          </a:p>
        </p:txBody>
      </p:sp>
      <p:graphicFrame>
        <p:nvGraphicFramePr>
          <p:cNvPr id="17" name="Chart 1"/>
          <p:cNvGraphicFramePr>
            <a:graphicFrameLocks noGrp="1"/>
          </p:cNvGraphicFramePr>
          <p:nvPr/>
        </p:nvGraphicFramePr>
        <p:xfrm>
          <a:off x="5486400" y="2441448"/>
          <a:ext cx="3032608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2"/>
          <p:cNvGraphicFramePr>
            <a:graphicFrameLocks noGrp="1"/>
          </p:cNvGraphicFramePr>
          <p:nvPr/>
        </p:nvGraphicFramePr>
        <p:xfrm>
          <a:off x="8701888" y="2441448"/>
          <a:ext cx="3032608" cy="9692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Form 10/A p.355; Investor Day deck s.75 (Mobility Global International Market Reporting data, FY25).</a:t>
            </a:r>
          </a:p>
        </p:txBody>
      </p:sp>
      <p:sp>
        <p:nvSpPr>
          <p:cNvPr id="20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Who CARFAX competes with abroad</a:t>
            </a:r>
          </a:p>
        </p:txBody>
      </p:sp>
      <p:graphicFrame>
        <p:nvGraphicFramePr>
          <p:cNvPr id="21" name="Table"/>
          <p:cNvGraphicFramePr>
            <a:graphicFrameLocks noGrp="1"/>
          </p:cNvGraphicFramePr>
          <p:nvPr/>
        </p:nvGraphicFramePr>
        <p:xfrm>
          <a:off x="5486400" y="3904488"/>
          <a:ext cx="6248095" cy="120472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Market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CARFAX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Main rivals / context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Canada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Market leader (management)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VinAudit (registration-data reseller)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Germany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New entrant, Jul-26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carVertical, autoDNA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Italy, Spain, Poland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Local services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carVertical (€76m revenue 2025); autoDNA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UK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Not present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HPI (Solera); free government MOT data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Quote card 1"/>
          <p:cNvSpPr/>
          <p:nvPr/>
        </p:nvSpPr>
        <p:spPr>
          <a:xfrm>
            <a:off x="457200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Quote 1"/>
          <p:cNvSpPr txBox="1"/>
          <p:nvPr/>
        </p:nvSpPr>
        <p:spPr>
          <a:xfrm>
            <a:off x="585216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262626"/>
                </a:solidFill>
                <a:latin typeface="Source Sans Pro Light"/>
              </a:rPr>
              <a:t>“We are currently the market leader in Canada. So I think of Canada and Europe representing a great opportunity for us.”</a:t>
            </a:r>
          </a:p>
          <a:p>
            <a:pPr>
              <a:spcBef>
                <a:spcPts val="300"/>
              </a:spcBef>
            </a:pPr>
            <a:r>
              <a:rPr sz="800" b="1" i="0">
                <a:solidFill>
                  <a:srgbClr val="0E7C86"/>
                </a:solidFill>
                <a:latin typeface="Source Sans Pro"/>
              </a:rPr>
              <a:t>Bill Eager, CEO, Goldman Sachs conf. (10-Sep-26)</a:t>
            </a:r>
          </a:p>
        </p:txBody>
      </p:sp>
      <p:sp>
        <p:nvSpPr>
          <p:cNvPr id="24" name="Quote card 2"/>
          <p:cNvSpPr/>
          <p:nvPr/>
        </p:nvSpPr>
        <p:spPr>
          <a:xfrm>
            <a:off x="4262018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Quote 2"/>
          <p:cNvSpPr txBox="1"/>
          <p:nvPr/>
        </p:nvSpPr>
        <p:spPr>
          <a:xfrm>
            <a:off x="4390034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262626"/>
                </a:solidFill>
                <a:latin typeface="Source Sans Pro Light"/>
              </a:rPr>
              <a:t>“We have a material international business, but it's one that I look at that as a little bit more mid to long term from a growth perspective.”</a:t>
            </a:r>
          </a:p>
          <a:p>
            <a:pPr>
              <a:spcBef>
                <a:spcPts val="300"/>
              </a:spcBef>
            </a:pPr>
            <a:r>
              <a:rPr sz="800" b="1" i="0">
                <a:solidFill>
                  <a:srgbClr val="0E7C86"/>
                </a:solidFill>
                <a:latin typeface="Source Sans Pro"/>
              </a:rPr>
              <a:t>Bill Eager, CEO, Goldman Sachs conf. (10-Sep-26)</a:t>
            </a:r>
          </a:p>
        </p:txBody>
      </p:sp>
      <p:sp>
        <p:nvSpPr>
          <p:cNvPr id="26" name="Quote card 3"/>
          <p:cNvSpPr/>
          <p:nvPr/>
        </p:nvSpPr>
        <p:spPr>
          <a:xfrm>
            <a:off x="8066837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Quote 3"/>
          <p:cNvSpPr txBox="1"/>
          <p:nvPr/>
        </p:nvSpPr>
        <p:spPr>
          <a:xfrm>
            <a:off x="8194853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1">
                <a:solidFill>
                  <a:srgbClr val="262626"/>
                </a:solidFill>
                <a:latin typeface="Source Sans Pro Light"/>
              </a:rPr>
              <a:t>“The market has changed in Germany, and the VIN is no longer considered PII, and so that has enabled us.”</a:t>
            </a:r>
          </a:p>
          <a:p>
            <a:pPr>
              <a:spcBef>
                <a:spcPts val="300"/>
              </a:spcBef>
            </a:pPr>
            <a:r>
              <a:rPr sz="800" b="1" i="0">
                <a:solidFill>
                  <a:srgbClr val="0E7C86"/>
                </a:solidFill>
                <a:latin typeface="Source Sans Pro"/>
              </a:rPr>
              <a:t>Scott Fredericks, President CARFAX, Investor Day (12-May-26)</a:t>
            </a:r>
          </a:p>
        </p:txBody>
      </p:sp>
      <p:sp>
        <p:nvSpPr>
          <p:cNvPr id="28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p.255, 301, 355, 380; 10-Q Q2-26 p.28; IHS Markit FY2016 10-K p.60–61 (CARPROOF); Investor Day deck s.57, 75, 100; Q2-26 call; GS conf. 10-Sep-26; carVertical (company-sourced); AlphaSense expert call #1.</a:t>
            </a:r>
          </a:p>
        </p:txBody>
      </p:sp>
      <p:sp>
        <p:nvSpPr>
          <p:cNvPr id="29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B2B  |  MARKETING &amp; SALES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Source Sans Pro"/>
              </a:rPr>
              <a:t>Marketing &amp; Sales: the registration data and dealer tools that tell carmakers who will buy next — three-quarters of B2B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95959"/>
                </a:solidFill>
                <a:latin typeface="Source Sans Pro Light"/>
              </a:rPr>
              <a:t>Polk (in business since 1870, automotive since the 1920s)  ·  IHS bought Polk 2013 (~$1.4bn)  ·  automotiveMastermind 2017 (78% for ~$433m)  ·  Market Scan 2023 ($223m)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~$450m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FY25 revenue (74% of B2B)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40 of 40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top global carmakers served (B2B)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3,200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dealers on automotiveMastermind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~10,500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dealers using Market Scan pricing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&gt;90%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of US volume uses its registration data (management)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Tells carmakers and dealers who will buy next, what they will buy and which deal wins them, then measures the result.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Toyota asks what share of SUVs it sold in one Texas county, and how many owners left for Honda; Polk counts it from registrations.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a Ford dealer's software spots that Sam's Expedition is worth more than he owes and texts him an upgrade offer.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Who pays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Carmakers (enterprise deals) and dealers (per store), mostly subscriptions; recall campaigns are paid per job.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The moat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Decades of state registration contracts others have failed to copy; its numbers are the ones carmakers quote.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How it fits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automotiveMastermind offers are being pushed into CARFAX's 53m-user Car Care app.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B2B FY25 revenue by business line ($608m)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3436452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side facts"/>
          <p:cNvSpPr txBox="1"/>
          <p:nvPr/>
        </p:nvSpPr>
        <p:spPr>
          <a:xfrm>
            <a:off x="9110295" y="2578608"/>
            <a:ext cx="26242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F3864"/>
                </a:solidFill>
                <a:latin typeface="Source Sans Pro"/>
              </a:rPr>
              <a:t>$608m  </a:t>
            </a:r>
            <a:r>
              <a:rPr sz="1000" b="0" i="0">
                <a:solidFill>
                  <a:srgbClr val="595959"/>
                </a:solidFill>
                <a:latin typeface="Source Sans Pro Light"/>
              </a:rPr>
              <a:t>B2B revenue FY25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1F3864"/>
                </a:solidFill>
                <a:latin typeface="Source Sans Pro"/>
              </a:rPr>
              <a:t>82% / 18%  </a:t>
            </a:r>
            <a:r>
              <a:rPr sz="1000" b="0" i="0">
                <a:solidFill>
                  <a:srgbClr val="595959"/>
                </a:solidFill>
                <a:latin typeface="Source Sans Pro Light"/>
              </a:rPr>
              <a:t>subscription / transactional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1F3864"/>
                </a:solidFill>
                <a:latin typeface="Source Sans Pro"/>
              </a:rPr>
              <a:t>79% / 21%  </a:t>
            </a:r>
            <a:r>
              <a:rPr sz="1000" b="0" i="0">
                <a:solidFill>
                  <a:srgbClr val="595959"/>
                </a:solidFill>
                <a:latin typeface="Source Sans Pro Light"/>
              </a:rPr>
              <a:t>US / international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1F3864"/>
                </a:solidFill>
                <a:latin typeface="Source Sans Pro"/>
              </a:rPr>
              <a:t>~10%  </a:t>
            </a:r>
            <a:r>
              <a:rPr sz="1000" b="0" i="0">
                <a:solidFill>
                  <a:srgbClr val="595959"/>
                </a:solidFill>
                <a:latin typeface="Source Sans Pro Light"/>
              </a:rPr>
              <a:t>share of $6bn core market</a:t>
            </a:r>
          </a:p>
        </p:txBody>
      </p:sp>
      <p:sp>
        <p:nvSpPr>
          <p:cNvPr id="19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Investor Day deck s.34. B2B overall: 82% subscription / 18% transactional; 79% US / 21% international.</a:t>
            </a:r>
          </a:p>
        </p:txBody>
      </p:sp>
      <p:sp>
        <p:nvSpPr>
          <p:cNvPr id="20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What sits inside</a:t>
            </a:r>
          </a:p>
        </p:txBody>
      </p:sp>
      <p:graphicFrame>
        <p:nvGraphicFramePr>
          <p:cNvPr id="21" name="Table"/>
          <p:cNvGraphicFramePr>
            <a:graphicFrameLocks noGrp="1"/>
          </p:cNvGraphicFramePr>
          <p:nvPr/>
        </p:nvGraphicFramePr>
        <p:xfrm>
          <a:off x="5486400" y="3904488"/>
          <a:ext cx="6248095" cy="92583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Product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What it does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Scale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automotiveMastermind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Predicts who buys next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3,200 dealers; double-digit growth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Polk market reporting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Registration-based market share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"&gt;90% of US volume"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Market Scan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Price &amp; payment engine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~10,500 dealers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Finds owners for safety recalls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"All major OEMs"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Quote card 1"/>
          <p:cNvSpPr/>
          <p:nvPr/>
        </p:nvSpPr>
        <p:spPr>
          <a:xfrm>
            <a:off x="457200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Quote 1"/>
          <p:cNvSpPr txBox="1"/>
          <p:nvPr/>
        </p:nvSpPr>
        <p:spPr>
          <a:xfrm>
            <a:off x="585216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262626"/>
                </a:solidFill>
                <a:latin typeface="Source Sans Pro Light"/>
              </a:rPr>
              <a:t>“We are providing those core services to over 90% of the volume in the U.S. market because we are the premium provider in that space”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E7C86"/>
                </a:solidFill>
                <a:latin typeface="Source Sans Pro"/>
              </a:rPr>
              <a:t>Joe LaFeir, President B2B, Investor Day (12-May-26)</a:t>
            </a:r>
          </a:p>
        </p:txBody>
      </p:sp>
      <p:sp>
        <p:nvSpPr>
          <p:cNvPr id="24" name="Quote card 2"/>
          <p:cNvSpPr/>
          <p:nvPr/>
        </p:nvSpPr>
        <p:spPr>
          <a:xfrm>
            <a:off x="4262018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Quote 2"/>
          <p:cNvSpPr txBox="1"/>
          <p:nvPr/>
        </p:nvSpPr>
        <p:spPr>
          <a:xfrm>
            <a:off x="4390034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262626"/>
                </a:solidFill>
                <a:latin typeface="Source Sans Pro Light"/>
              </a:rPr>
              <a:t>“Registration data itself, I know of no other company than Polk.”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E7C86"/>
                </a:solidFill>
                <a:latin typeface="Source Sans Pro"/>
              </a:rPr>
              <a:t>Ex-CARFAX rep, now carmaker finance manager, Jun-26</a:t>
            </a:r>
          </a:p>
        </p:txBody>
      </p:sp>
      <p:sp>
        <p:nvSpPr>
          <p:cNvPr id="26" name="Quote card 3"/>
          <p:cNvSpPr/>
          <p:nvPr/>
        </p:nvSpPr>
        <p:spPr>
          <a:xfrm>
            <a:off x="8066837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Quote 3"/>
          <p:cNvSpPr txBox="1"/>
          <p:nvPr/>
        </p:nvSpPr>
        <p:spPr>
          <a:xfrm>
            <a:off x="8194853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262626"/>
                </a:solidFill>
                <a:latin typeface="Source Sans Pro Light"/>
              </a:rPr>
              <a:t>“All parts of the business are growing. Everybody's pulling on the oar with one minor exception, recall business.”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0E7C86"/>
                </a:solidFill>
                <a:latin typeface="Source Sans Pro"/>
              </a:rPr>
              <a:t>Matt Calderone, CFO, Investor Day (12-May-26)</a:t>
            </a:r>
          </a:p>
        </p:txBody>
      </p:sp>
      <p:sp>
        <p:nvSpPr>
          <p:cNvPr id="28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p.264–265, 378, 381–382, 452–453; 10-Q Q2-26 p.19–20; Investor Day deck s.34, 40, 42, 43, 48; IHS Markit FY2017 10-K p.62; IHS 8-K (Polk, 2013); Q2-26 call; AlphaSense expert calls #2, #4. Revenue = 74% of B2B $608m [C].</a:t>
            </a:r>
          </a:p>
        </p:txBody>
      </p:sp>
      <p:sp>
        <p:nvSpPr>
          <p:cNvPr id="29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B2B  |  STRATEGY &amp; PLANNING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Source Sans Pro"/>
              </a:rPr>
              <a:t>Strategy &amp; Planning: the car industry's long-range forecast — used by every top-40 carmaker, up against a "low-cost alternative"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595959"/>
                </a:solidFill>
                <a:latin typeface="Source Sans Pro Light"/>
              </a:rPr>
              <a:t>Global forecasting standard launched ~1986 ("40 years ago")  ·  Polk / IHS heritage, IHS bought Polk 2013  ·  FAST and PIQ tools launched 2025–26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~$158m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FY25 revenue (26% of B2B)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100%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of top-40 carmakers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94%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of top-100 suppliers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85,000+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vehicle variants forecast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F3864"/>
                </a:solidFill>
                <a:latin typeface="Source Sans Pro"/>
              </a:rPr>
              <a:t>23K</a:t>
            </a:r>
          </a:p>
          <a:p>
            <a:r>
              <a:rPr sz="900" b="0" i="0">
                <a:solidFill>
                  <a:srgbClr val="595959"/>
                </a:solidFill>
                <a:latin typeface="Source Sans Pro Light"/>
              </a:rPr>
              <a:t>monthly users of planning platforms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 marL="128016" indent="-128016">
              <a:spcBef>
                <a:spcPts val="200"/>
              </a:spcBef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The car industry's weather forecast: how many of each model will be built and sold, in every country, years ahead.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Toyota asks how many hybrid vs petrol Camrys will sell in the US in 2028, and which plant should build them.</a:t>
            </a:r>
          </a:p>
          <a:p>
            <a:pPr marL="128016" indent="-128016">
              <a:spcBef>
                <a:spcPts val="200"/>
              </a:spcBef>
              <a:buFont typeface="Arial"/>
              <a:buChar char="›"/>
            </a:pPr>
            <a:r>
              <a:rPr sz="1050" b="1" i="0">
                <a:solidFill>
                  <a:srgbClr val="1F3864"/>
                </a:solidFill>
                <a:latin typeface="Source Sans Pro"/>
              </a:rPr>
              <a:t>Example: </a:t>
            </a:r>
            <a:r>
              <a:rPr sz="1050" b="0" i="0">
                <a:solidFill>
                  <a:srgbClr val="262626"/>
                </a:solidFill>
                <a:latin typeface="Source Sans Pro Light"/>
              </a:rPr>
              <a:t>"What if a 25% tariff hits Mexican imports?" The FAST tool reruns the forecast in minutes.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Who pays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Carmakers, parts suppliers, banks and governments; mostly annual subscriptions plus one-off projects.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The moat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Detail that is slow to copy (195 analysts, 4,400+ suppliers mapped), built into customers' own plans.</a:t>
            </a:r>
          </a:p>
          <a:p>
            <a:pPr>
              <a:spcBef>
                <a:spcPts val="700"/>
              </a:spcBef>
            </a:pPr>
            <a:r>
              <a:rPr sz="1150" b="1" i="0">
                <a:solidFill>
                  <a:srgbClr val="0E7C86"/>
                </a:solidFill>
                <a:latin typeface="Source Sans Pro"/>
              </a:rPr>
              <a:t>How it fits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62626"/>
                </a:solidFill>
                <a:latin typeface="Source Sans Pro Light"/>
              </a:rPr>
              <a:t>Shares data and carmaker customers with Marketing &amp; Sales; little link to CARFAX.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B2B addressable market, $bn (FY25, management / third-party consultant)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6248095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Investor Day deck s.46 (independent consultant, midpoint of ranges); B2B share of core ~10%. TAM is B2B-wide, not planning-only.</a:t>
            </a:r>
          </a:p>
        </p:txBody>
      </p:sp>
      <p:sp>
        <p:nvSpPr>
          <p:cNvPr id="19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F3864"/>
                </a:solidFill>
                <a:latin typeface="Source Sans Pro"/>
              </a:rPr>
              <a:t>Coverage of the forecasts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486400" y="3904488"/>
          <a:ext cx="6248095" cy="92583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Measure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>Coverage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ource Sans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Global vehicle production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99%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145+ sales markets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Vehicle production plants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~990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in 50+ countries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Supplier plants / suppliers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2,900+ / 4,400+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680+ technologies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516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1F3864"/>
                          </a:solidFill>
                          <a:latin typeface="Source Sans Pro"/>
                        </a:rPr>
                        <a:t>Analyst team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195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forecasts 5–15+ years out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Quote card 1"/>
          <p:cNvSpPr/>
          <p:nvPr/>
        </p:nvSpPr>
        <p:spPr>
          <a:xfrm>
            <a:off x="457200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uote 1"/>
          <p:cNvSpPr txBox="1"/>
          <p:nvPr/>
        </p:nvSpPr>
        <p:spPr>
          <a:xfrm>
            <a:off x="585216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“We thrive in stable periods, a lot of organizations do, but we also excel in times of uncertainty and volatility because this is the time when some of those decisions are going to matter the most.”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Joe LaFeir, President B2B, Investor Day (12-May-26)</a:t>
            </a:r>
          </a:p>
        </p:txBody>
      </p:sp>
      <p:sp>
        <p:nvSpPr>
          <p:cNvPr id="23" name="Quote card 2"/>
          <p:cNvSpPr/>
          <p:nvPr/>
        </p:nvSpPr>
        <p:spPr>
          <a:xfrm>
            <a:off x="4262018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uote 2"/>
          <p:cNvSpPr txBox="1"/>
          <p:nvPr/>
        </p:nvSpPr>
        <p:spPr>
          <a:xfrm>
            <a:off x="4390034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“It's automating 90% of the workflow, and we're generating 4x improvement in forecasting quality.”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Joe LaFeir on FAST, Investor Day (12-May-26)</a:t>
            </a:r>
          </a:p>
        </p:txBody>
      </p:sp>
      <p:sp>
        <p:nvSpPr>
          <p:cNvPr id="25" name="Quote card 3"/>
          <p:cNvSpPr/>
          <p:nvPr/>
        </p:nvSpPr>
        <p:spPr>
          <a:xfrm>
            <a:off x="8066837" y="5440680"/>
            <a:ext cx="3667658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uote 3"/>
          <p:cNvSpPr txBox="1"/>
          <p:nvPr/>
        </p:nvSpPr>
        <p:spPr>
          <a:xfrm>
            <a:off x="8194853" y="5513832"/>
            <a:ext cx="3411626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“If we do typically see that, the competitors, it's a low-cost alternative to what we're providing and a very different product.”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Joe LaFeir, President B2B, Investor Day (12-May-26)</a:t>
            </a:r>
          </a:p>
        </p:txBody>
      </p:sp>
      <p:sp>
        <p:nvSpPr>
          <p:cNvPr id="27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p.265–266, 297, 378–381; 10-Q Q2-26 p.20; Investor Day deck s.17, 34, 37, 40, 42, 46; Q2-26 call; GS conf. 10-Sep-26; GlobalData/just-auto (LMC deal); AlphaSense expert call #4. Revenue = 26% of B2B $608m [C].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Mobility Global: business lines</dc:title>
  <dc:subject/>
  <dc:creator>MBGL research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